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3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6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0.png"/><Relationship Id="rId22" Type="http://schemas.openxmlformats.org/officeDocument/2006/relationships/image" Target="../media/image-2-1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3.png"/><Relationship Id="rId27" Type="http://schemas.openxmlformats.org/officeDocument/2006/relationships/image" Target="../media/image-2-6.png"/><Relationship Id="rId28" Type="http://schemas.openxmlformats.org/officeDocument/2006/relationships/image" Target="../media/image-2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3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3.png"/><Relationship Id="rId9" Type="http://schemas.openxmlformats.org/officeDocument/2006/relationships/image" Target="../media/image-4-6.png"/><Relationship Id="rId10" Type="http://schemas.openxmlformats.org/officeDocument/2006/relationships/image" Target="../media/image-4-7.png"/><Relationship Id="rId11" Type="http://schemas.openxmlformats.org/officeDocument/2006/relationships/image" Target="../media/image-4-3.png"/><Relationship Id="rId12" Type="http://schemas.openxmlformats.org/officeDocument/2006/relationships/image" Target="../media/image-4-6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1.png"/><Relationship Id="rId8" Type="http://schemas.openxmlformats.org/officeDocument/2006/relationships/image" Target="../media/image-6-2.png"/><Relationship Id="rId9" Type="http://schemas.openxmlformats.org/officeDocument/2006/relationships/image" Target="../media/image-6-3.png"/><Relationship Id="rId10" Type="http://schemas.openxmlformats.org/officeDocument/2006/relationships/image" Target="../media/image-6-4.png"/><Relationship Id="rId11" Type="http://schemas.openxmlformats.org/officeDocument/2006/relationships/image" Target="../media/image-6-5.png"/><Relationship Id="rId12" Type="http://schemas.openxmlformats.org/officeDocument/2006/relationships/image" Target="../media/image-6-6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CloudPulse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50392" y="2971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AWS Architecture — Serverless Cloud Governance, Cost &amp; Compliance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" y="3611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FastAPI on Lambda  •  Angular 18  •  Bedrock AgentCore + Nova 2 Lite  •  Aurora Serverless v2  •  Terraform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46634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2C3B4F"/>
          </a:solidFill>
          <a:ln/>
        </p:spPr>
      </p:sp>
      <p:pic>
        <p:nvPicPr>
          <p:cNvPr id="6" name="Image 0" descr="/tmp/aws-icons/dist/ApplicationIntegration/Event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4846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394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97480" y="46634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2C3B4F"/>
          </a:solidFill>
          <a:ln/>
        </p:spPr>
      </p:sp>
      <p:pic>
        <p:nvPicPr>
          <p:cNvPr id="9" name="Image 1" descr="/tmp/aws-icons/dist/ManagementGovernance/CloudTr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4846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5394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26280" y="46634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2C3B4F"/>
          </a:solidFill>
          <a:ln/>
        </p:spPr>
      </p:sp>
      <p:pic>
        <p:nvPicPr>
          <p:cNvPr id="12" name="Image 2" descr="/tmp/aws-icons/dist/BusinessApplications/SimpleEmailServ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08" y="48463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26280" y="5394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355080" y="46634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2C3B4F"/>
          </a:solidFill>
          <a:ln/>
        </p:spPr>
      </p:sp>
      <p:pic>
        <p:nvPicPr>
          <p:cNvPr id="15" name="Image 3" descr="/tmp/aws-icons/dist/Compute/Lambd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4846320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5080" y="5394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183880" y="46634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2C3B4F"/>
          </a:solidFill>
          <a:ln/>
        </p:spPr>
      </p:sp>
      <p:pic>
        <p:nvPicPr>
          <p:cNvPr id="18" name="Image 4" descr="/tmp/aws-icons/dist/CloudFinancialManagement/CostExplor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08" y="484632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183880" y="5394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10012680" y="466344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2C3B4F"/>
          </a:solidFill>
          <a:ln/>
        </p:spPr>
      </p:sp>
      <p:pic>
        <p:nvPicPr>
          <p:cNvPr id="21" name="Image 5" descr="/tmp/aws-icons/dist/ArtificialIntelligence/Bedr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9608" y="4846320"/>
            <a:ext cx="457200" cy="4572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012680" y="5394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850392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8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v2.0, as built • October 2026 • Companions: README, Plan &amp; Tech Stack (docx), Engineering Guide (docx), Backlog (xlsx)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Architecture — Serverless Hub Account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CloudPulse components deploy in one AWS account; each added account gets one read-only IAM role via CloudFormation.</a:t>
            </a:r>
            <a:endParaRPr lang="en-US" sz="1200" dirty="0"/>
          </a:p>
        </p:txBody>
      </p:sp>
      <p:pic>
        <p:nvPicPr>
          <p:cNvPr id="4" name="Image 0" descr="/tmp/aws-icons/dist/General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users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(admin / operator / viewer)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1691640" y="1051560"/>
            <a:ext cx="7818120" cy="4709160"/>
          </a:xfrm>
          <a:prstGeom prst="roundRect">
            <a:avLst>
              <a:gd name="adj" fmla="val 1553"/>
            </a:avLst>
          </a:prstGeom>
          <a:solidFill>
            <a:srgbClr val="FBFCFE"/>
          </a:solidFill>
          <a:ln w="19050">
            <a:solidFill>
              <a:srgbClr val="232F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01368" y="1097280"/>
            <a:ext cx="7598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CloudPulse Hub AWS Account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74520" y="1481328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84248" y="152704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000" dirty="0"/>
          </a:p>
        </p:txBody>
      </p:sp>
      <p:pic>
        <p:nvPicPr>
          <p:cNvPr id="10" name="Image 1" descr="/tmp/aws-icons/dist/NetworkingContentDelivery/CloudFro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16" y="182880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3225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CloudFront (OAC)</a:t>
            </a:r>
            <a:endParaRPr lang="en-US" sz="850" dirty="0"/>
          </a:p>
        </p:txBody>
      </p:sp>
      <p:pic>
        <p:nvPicPr>
          <p:cNvPr id="12" name="Image 2" descr="/tmp/aws-icons/dist/Storage/SimpleStorageServ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136" y="1828800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34640" y="23225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— Angular 18 SPA</a:t>
            </a:r>
            <a:endParaRPr lang="en-US" sz="850" dirty="0"/>
          </a:p>
        </p:txBody>
      </p:sp>
      <p:pic>
        <p:nvPicPr>
          <p:cNvPr id="14" name="Image 3" descr="/tmp/aws-icons/dist/SecurityIdentityCompliance/Cognit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416" y="3429000"/>
            <a:ext cx="475488" cy="4754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45920" y="39227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Cognito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 role groups, JWT)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4434840" y="1481328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544568" y="152704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000" dirty="0"/>
          </a:p>
        </p:txBody>
      </p:sp>
      <p:pic>
        <p:nvPicPr>
          <p:cNvPr id="18" name="Image 4" descr="/tmp/aws-icons/dist/NetworkingContentDelivery/APIGatew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1828800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23225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(HTTP API)</a:t>
            </a:r>
            <a:endParaRPr lang="en-US" sz="850" dirty="0"/>
          </a:p>
        </p:txBody>
      </p:sp>
      <p:pic>
        <p:nvPicPr>
          <p:cNvPr id="20" name="Image 5" descr="/tmp/aws-icons/dist/Compute/Lambd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1828800"/>
            <a:ext cx="475488" cy="4754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532120" y="23225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Lambda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(Python 3.12)</a:t>
            </a:r>
            <a:endParaRPr lang="en-US" sz="850" dirty="0"/>
          </a:p>
        </p:txBody>
      </p:sp>
      <p:sp>
        <p:nvSpPr>
          <p:cNvPr id="22" name="Shape 14"/>
          <p:cNvSpPr/>
          <p:nvPr/>
        </p:nvSpPr>
        <p:spPr>
          <a:xfrm>
            <a:off x="7452360" y="1481328"/>
            <a:ext cx="1874520" cy="260604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7562088" y="152704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data</a:t>
            </a:r>
            <a:endParaRPr lang="en-US" sz="1000" dirty="0"/>
          </a:p>
        </p:txBody>
      </p:sp>
      <p:pic>
        <p:nvPicPr>
          <p:cNvPr id="24" name="Image 6" descr="/tmp/aws-icons/dist/Database/Auror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1828800"/>
            <a:ext cx="475488" cy="4754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223760" y="23225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Serverless v2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50" dirty="0"/>
          </a:p>
        </p:txBody>
      </p:sp>
      <p:pic>
        <p:nvPicPr>
          <p:cNvPr id="26" name="Image 7" descr="/tmp/aws-icons/dist/Storage/SimpleStorageServi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0496" y="2926080"/>
            <a:ext cx="475488" cy="4754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001000" y="34198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raw scan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</a:t>
            </a:r>
            <a:endParaRPr lang="en-US" sz="850" dirty="0"/>
          </a:p>
        </p:txBody>
      </p:sp>
      <p:sp>
        <p:nvSpPr>
          <p:cNvPr id="28" name="Shape 18"/>
          <p:cNvSpPr/>
          <p:nvPr/>
        </p:nvSpPr>
        <p:spPr>
          <a:xfrm>
            <a:off x="1874520" y="416052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EF4FE"/>
          </a:solidFill>
          <a:ln w="12700">
            <a:solidFill>
              <a:srgbClr val="B9CDEB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1984248" y="4206240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&amp; orchestration plane</a:t>
            </a:r>
            <a:endParaRPr lang="en-US" sz="1000" dirty="0"/>
          </a:p>
        </p:txBody>
      </p:sp>
      <p:pic>
        <p:nvPicPr>
          <p:cNvPr id="30" name="Image 8" descr="/tmp/aws-icons/dist/ApplicationIntegration/EventBrid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1136" y="4526280"/>
            <a:ext cx="475488" cy="4754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691640" y="50200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(daily)</a:t>
            </a:r>
            <a:endParaRPr lang="en-US" sz="850" dirty="0"/>
          </a:p>
        </p:txBody>
      </p:sp>
      <p:pic>
        <p:nvPicPr>
          <p:cNvPr id="32" name="Image 9" descr="/tmp/aws-icons/dist/ApplicationIntegration/StepFunction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8456" y="4526280"/>
            <a:ext cx="475488" cy="47548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3108960" y="50200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Functions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(Map fan-out)</a:t>
            </a:r>
            <a:endParaRPr lang="en-US" sz="850" dirty="0"/>
          </a:p>
        </p:txBody>
      </p:sp>
      <p:pic>
        <p:nvPicPr>
          <p:cNvPr id="34" name="Image 10" descr="/tmp/aws-icons/dist/Compute/Lambd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5776" y="4526280"/>
            <a:ext cx="475488" cy="47548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4526280" y="50200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worker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(account × region)</a:t>
            </a:r>
            <a:endParaRPr lang="en-US" sz="850" dirty="0"/>
          </a:p>
        </p:txBody>
      </p:sp>
      <p:pic>
        <p:nvPicPr>
          <p:cNvPr id="36" name="Image 11" descr="/tmp/aws-icons/dist/SecurityIdentityCompliance/IdentityAccessManagementRol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656" y="4526280"/>
            <a:ext cx="475488" cy="475488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5852160" y="50200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role (launch) /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AssumeRole + ExternalId</a:t>
            </a:r>
            <a:endParaRPr lang="en-US" sz="850" dirty="0"/>
          </a:p>
        </p:txBody>
      </p:sp>
      <p:sp>
        <p:nvSpPr>
          <p:cNvPr id="38" name="Shape 24"/>
          <p:cNvSpPr/>
          <p:nvPr/>
        </p:nvSpPr>
        <p:spPr>
          <a:xfrm>
            <a:off x="4434840" y="3246120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F8F3EC"/>
          </a:solidFill>
          <a:ln w="12700">
            <a:solidFill>
              <a:srgbClr val="E3D5C0"/>
            </a:solidFill>
            <a:prstDash val="solid"/>
          </a:ln>
        </p:spPr>
      </p:sp>
      <p:pic>
        <p:nvPicPr>
          <p:cNvPr id="39" name="Image 12" descr="/tmp/aws-icons/dist/ApplicationIntegration/SimpleQueueServic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0016" y="3310128"/>
            <a:ext cx="384048" cy="384048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4114800" y="37124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SQS + workers</a:t>
            </a:r>
            <a:endParaRPr lang="en-US" sz="800" dirty="0"/>
          </a:p>
        </p:txBody>
      </p:sp>
      <p:pic>
        <p:nvPicPr>
          <p:cNvPr id="41" name="Image 13" descr="/tmp/aws-icons/dist/BusinessApplications/SimpleEmailServic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14416" y="3310128"/>
            <a:ext cx="384048" cy="384048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5029200" y="37124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800" dirty="0"/>
          </a:p>
        </p:txBody>
      </p:sp>
      <p:pic>
        <p:nvPicPr>
          <p:cNvPr id="43" name="Image 14" descr="/tmp/aws-icons/dist/ArtificialIntelligence/Bedroc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28816" y="3310128"/>
            <a:ext cx="384048" cy="384048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5943600" y="37124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+ Nova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digest, suggestions</a:t>
            </a:r>
            <a:endParaRPr lang="en-US" sz="800" dirty="0"/>
          </a:p>
        </p:txBody>
      </p:sp>
      <p:sp>
        <p:nvSpPr>
          <p:cNvPr id="45" name="Text 28"/>
          <p:cNvSpPr/>
          <p:nvPr/>
        </p:nvSpPr>
        <p:spPr>
          <a:xfrm>
            <a:off x="1920240" y="5779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673"/>
                </a:solidFill>
              </a:rPr>
              <a:t>Platform: </a:t>
            </a:r>
            <a:endParaRPr lang="en-US" sz="900" dirty="0"/>
          </a:p>
        </p:txBody>
      </p:sp>
      <p:pic>
        <p:nvPicPr>
          <p:cNvPr id="46" name="Image 15" descr="/tmp/aws-icons/dist/ManagementGovernance/CloudWatch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97480" y="5742432"/>
            <a:ext cx="310896" cy="310896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3035808" y="5760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3"/>
                </a:solidFill>
              </a:rPr>
              <a:t>CloudWatch</a:t>
            </a:r>
            <a:endParaRPr lang="en-US" sz="850" dirty="0"/>
          </a:p>
        </p:txBody>
      </p:sp>
      <p:pic>
        <p:nvPicPr>
          <p:cNvPr id="48" name="Image 16" descr="/tmp/aws-icons/dist/SecurityIdentityCompliance/SecretsManage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69080" y="5742432"/>
            <a:ext cx="310896" cy="310896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4407408" y="5760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3"/>
                </a:solidFill>
              </a:rPr>
              <a:t>Secrets Mgr</a:t>
            </a:r>
            <a:endParaRPr lang="en-US" sz="850" dirty="0"/>
          </a:p>
        </p:txBody>
      </p:sp>
      <p:pic>
        <p:nvPicPr>
          <p:cNvPr id="50" name="Image 17" descr="/tmp/aws-icons/dist/SecurityIdentityCompliance/KeyManagementServic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40680" y="5742432"/>
            <a:ext cx="310896" cy="310896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5779008" y="5760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3"/>
                </a:solidFill>
              </a:rPr>
              <a:t>KMS</a:t>
            </a:r>
            <a:endParaRPr lang="en-US" sz="850" dirty="0"/>
          </a:p>
        </p:txBody>
      </p:sp>
      <p:pic>
        <p:nvPicPr>
          <p:cNvPr id="52" name="Image 18" descr="/tmp/aws-icons/dist/SecurityIdentityCompliance/IAMIdentityCente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12280" y="5742432"/>
            <a:ext cx="310896" cy="310896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7150608" y="5760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3"/>
                </a:solidFill>
              </a:rPr>
              <a:t>IAM Identity Center</a:t>
            </a:r>
            <a:endParaRPr lang="en-US" sz="850" dirty="0"/>
          </a:p>
        </p:txBody>
      </p:sp>
      <p:pic>
        <p:nvPicPr>
          <p:cNvPr id="54" name="Image 19" descr="/tmp/aws-icons/dist/ManagementGovernance/CloudFormation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83880" y="5742432"/>
            <a:ext cx="310896" cy="310896"/>
          </a:xfrm>
          <a:prstGeom prst="rect">
            <a:avLst/>
          </a:prstGeom>
        </p:spPr>
      </p:pic>
      <p:sp>
        <p:nvSpPr>
          <p:cNvPr id="55" name="Text 33"/>
          <p:cNvSpPr/>
          <p:nvPr/>
        </p:nvSpPr>
        <p:spPr>
          <a:xfrm>
            <a:off x="8522208" y="5760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673"/>
                </a:solidFill>
              </a:rPr>
              <a:t>CloudFormation</a:t>
            </a:r>
            <a:endParaRPr lang="en-US" sz="850" dirty="0"/>
          </a:p>
        </p:txBody>
      </p:sp>
      <p:sp>
        <p:nvSpPr>
          <p:cNvPr id="56" name="Shape 34"/>
          <p:cNvSpPr/>
          <p:nvPr/>
        </p:nvSpPr>
        <p:spPr>
          <a:xfrm>
            <a:off x="9738360" y="1051560"/>
            <a:ext cx="2286000" cy="4709160"/>
          </a:xfrm>
          <a:prstGeom prst="roundRect">
            <a:avLst>
              <a:gd name="adj" fmla="val 3200"/>
            </a:avLst>
          </a:prstGeom>
          <a:solidFill>
            <a:srgbClr val="FFF4E8"/>
          </a:solidFill>
          <a:ln w="19050">
            <a:solidFill>
              <a:srgbClr val="E8791E"/>
            </a:solidFill>
            <a:prstDash val="solid"/>
          </a:ln>
        </p:spPr>
      </p:sp>
      <p:sp>
        <p:nvSpPr>
          <p:cNvPr id="57" name="Text 35"/>
          <p:cNvSpPr/>
          <p:nvPr/>
        </p:nvSpPr>
        <p:spPr>
          <a:xfrm>
            <a:off x="9848088" y="109728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accounts (×N)</a:t>
            </a:r>
            <a:endParaRPr lang="en-US" sz="1100" dirty="0"/>
          </a:p>
        </p:txBody>
      </p:sp>
      <p:sp>
        <p:nvSpPr>
          <p:cNvPr id="58" name="Text 36"/>
          <p:cNvSpPr/>
          <p:nvPr/>
        </p:nvSpPr>
        <p:spPr>
          <a:xfrm>
            <a:off x="9784080" y="59893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B6673"/>
                </a:solidFill>
              </a:rPr>
              <a:t>Same-account mode: CloudPulse scans the account it runs in with its own read-only roles. Cross-account mode activates as accounts are added.</a:t>
            </a:r>
            <a:endParaRPr lang="en-US" sz="750" dirty="0"/>
          </a:p>
        </p:txBody>
      </p:sp>
      <p:pic>
        <p:nvPicPr>
          <p:cNvPr id="59" name="Image 20" descr="/tmp/aws-icons/dist/ManagementGovernance/CloudFormation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71048" y="1554480"/>
            <a:ext cx="420624" cy="420624"/>
          </a:xfrm>
          <a:prstGeom prst="rect">
            <a:avLst/>
          </a:prstGeom>
        </p:spPr>
      </p:pic>
      <p:sp>
        <p:nvSpPr>
          <p:cNvPr id="60" name="Text 37"/>
          <p:cNvSpPr/>
          <p:nvPr/>
        </p:nvSpPr>
        <p:spPr>
          <a:xfrm>
            <a:off x="10104120" y="19933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CloudFormation stack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(onboarding)</a:t>
            </a:r>
            <a:endParaRPr lang="en-US" sz="800" dirty="0"/>
          </a:p>
        </p:txBody>
      </p:sp>
      <p:pic>
        <p:nvPicPr>
          <p:cNvPr id="61" name="Image 21" descr="/tmp/aws-icons/dist/SecurityIdentityCompliance/IdentityAccessManagementRole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671048" y="2514600"/>
            <a:ext cx="420624" cy="420624"/>
          </a:xfrm>
          <a:prstGeom prst="rect">
            <a:avLst/>
          </a:prstGeom>
        </p:spPr>
      </p:pic>
      <p:sp>
        <p:nvSpPr>
          <p:cNvPr id="62" name="Text 38"/>
          <p:cNvSpPr/>
          <p:nvPr/>
        </p:nvSpPr>
        <p:spPr>
          <a:xfrm>
            <a:off x="10104120" y="29535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cloudpulse-scanner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(read-only)</a:t>
            </a:r>
            <a:endParaRPr lang="en-US" sz="800" dirty="0"/>
          </a:p>
        </p:txBody>
      </p:sp>
      <p:pic>
        <p:nvPicPr>
          <p:cNvPr id="63" name="Image 22" descr="/tmp/aws-icons/dist/ManagementGovernance/CloudTrail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71048" y="3474720"/>
            <a:ext cx="420624" cy="420624"/>
          </a:xfrm>
          <a:prstGeom prst="rect">
            <a:avLst/>
          </a:prstGeom>
        </p:spPr>
      </p:pic>
      <p:sp>
        <p:nvSpPr>
          <p:cNvPr id="64" name="Text 39"/>
          <p:cNvSpPr/>
          <p:nvPr/>
        </p:nvSpPr>
        <p:spPr>
          <a:xfrm>
            <a:off x="10104120" y="39136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(ownership events)</a:t>
            </a:r>
            <a:endParaRPr lang="en-US" sz="800" dirty="0"/>
          </a:p>
        </p:txBody>
      </p:sp>
      <p:pic>
        <p:nvPicPr>
          <p:cNvPr id="65" name="Image 23" descr="/tmp/aws-icons/dist/Compute/EC2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04120" y="4526280"/>
            <a:ext cx="384048" cy="384048"/>
          </a:xfrm>
          <a:prstGeom prst="rect">
            <a:avLst/>
          </a:prstGeom>
        </p:spPr>
      </p:pic>
      <p:pic>
        <p:nvPicPr>
          <p:cNvPr id="66" name="Image 24" descr="/tmp/aws-icons/dist/Database/RDS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698480" y="4526280"/>
            <a:ext cx="384048" cy="384048"/>
          </a:xfrm>
          <a:prstGeom prst="rect">
            <a:avLst/>
          </a:prstGeom>
        </p:spPr>
      </p:pic>
      <p:pic>
        <p:nvPicPr>
          <p:cNvPr id="67" name="Image 25" descr="/tmp/aws-icons/dist/Storage/SimpleStorageServic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292840" y="4526280"/>
            <a:ext cx="384048" cy="384048"/>
          </a:xfrm>
          <a:prstGeom prst="rect">
            <a:avLst/>
          </a:prstGeom>
        </p:spPr>
      </p:pic>
      <p:pic>
        <p:nvPicPr>
          <p:cNvPr id="68" name="Image 26" descr="/tmp/aws-icons/dist/Compute/Lambda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378440" y="4983480"/>
            <a:ext cx="384048" cy="384048"/>
          </a:xfrm>
          <a:prstGeom prst="rect">
            <a:avLst/>
          </a:prstGeom>
        </p:spPr>
      </p:pic>
      <p:pic>
        <p:nvPicPr>
          <p:cNvPr id="69" name="Image 27" descr="/tmp/aws-icons/dist/Containers/ElasticKubernetesServic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018520" y="4983480"/>
            <a:ext cx="384048" cy="384048"/>
          </a:xfrm>
          <a:prstGeom prst="rect">
            <a:avLst/>
          </a:prstGeom>
        </p:spPr>
      </p:pic>
      <p:sp>
        <p:nvSpPr>
          <p:cNvPr id="70" name="Text 40"/>
          <p:cNvSpPr/>
          <p:nvPr/>
        </p:nvSpPr>
        <p:spPr>
          <a:xfrm>
            <a:off x="9829800" y="5413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673"/>
                </a:solidFill>
              </a:rPr>
              <a:t>EC2 • RDS • S3 • Lambda • EKS • IAM …</a:t>
            </a:r>
            <a:endParaRPr lang="en-US" sz="800" dirty="0"/>
          </a:p>
        </p:txBody>
      </p:sp>
      <p:sp>
        <p:nvSpPr>
          <p:cNvPr id="71" name="Shape 41"/>
          <p:cNvSpPr/>
          <p:nvPr/>
        </p:nvSpPr>
        <p:spPr>
          <a:xfrm>
            <a:off x="1143000" y="1783080"/>
            <a:ext cx="1051560" cy="228600"/>
          </a:xfrm>
          <a:prstGeom prst="line">
            <a:avLst/>
          </a:prstGeom>
          <a:noFill/>
          <a:ln w="19050">
            <a:solidFill>
              <a:srgbClr val="8896A6"/>
            </a:solidFill>
            <a:prstDash val="solid"/>
            <a:tailEnd type="triangle"/>
          </a:ln>
        </p:spPr>
      </p:sp>
      <p:sp>
        <p:nvSpPr>
          <p:cNvPr id="72" name="Shape 42"/>
          <p:cNvSpPr/>
          <p:nvPr/>
        </p:nvSpPr>
        <p:spPr>
          <a:xfrm>
            <a:off x="2651760" y="2057400"/>
            <a:ext cx="713232" cy="0"/>
          </a:xfrm>
          <a:prstGeom prst="line">
            <a:avLst/>
          </a:prstGeom>
          <a:noFill/>
          <a:ln w="19050">
            <a:solidFill>
              <a:srgbClr val="8896A6"/>
            </a:solidFill>
            <a:prstDash val="solid"/>
            <a:tailEnd type="triangle"/>
          </a:ln>
        </p:spPr>
      </p:sp>
      <p:sp>
        <p:nvSpPr>
          <p:cNvPr id="73" name="Shape 43"/>
          <p:cNvSpPr/>
          <p:nvPr/>
        </p:nvSpPr>
        <p:spPr>
          <a:xfrm>
            <a:off x="3840480" y="2057400"/>
            <a:ext cx="914400" cy="0"/>
          </a:xfrm>
          <a:prstGeom prst="line">
            <a:avLst/>
          </a:prstGeom>
          <a:noFill/>
          <a:ln w="19050">
            <a:solidFill>
              <a:srgbClr val="8896A6"/>
            </a:solidFill>
            <a:prstDash val="solid"/>
            <a:tailEnd type="triangle"/>
          </a:ln>
        </p:spPr>
      </p:sp>
      <p:sp>
        <p:nvSpPr>
          <p:cNvPr id="74" name="Shape 44"/>
          <p:cNvSpPr/>
          <p:nvPr/>
        </p:nvSpPr>
        <p:spPr>
          <a:xfrm>
            <a:off x="5212080" y="2057400"/>
            <a:ext cx="850392" cy="0"/>
          </a:xfrm>
          <a:prstGeom prst="line">
            <a:avLst/>
          </a:prstGeom>
          <a:noFill/>
          <a:ln w="19050">
            <a:solidFill>
              <a:srgbClr val="8896A6"/>
            </a:solidFill>
            <a:prstDash val="solid"/>
            <a:tailEnd type="triangle"/>
          </a:ln>
        </p:spPr>
      </p:sp>
      <p:sp>
        <p:nvSpPr>
          <p:cNvPr id="75" name="Shape 45"/>
          <p:cNvSpPr/>
          <p:nvPr/>
        </p:nvSpPr>
        <p:spPr>
          <a:xfrm>
            <a:off x="6537960" y="2057400"/>
            <a:ext cx="1234440" cy="0"/>
          </a:xfrm>
          <a:prstGeom prst="line">
            <a:avLst/>
          </a:prstGeom>
          <a:noFill/>
          <a:ln w="19050">
            <a:solidFill>
              <a:srgbClr val="8896A6"/>
            </a:solidFill>
            <a:prstDash val="solid"/>
            <a:tailEnd type="triangle"/>
          </a:ln>
        </p:spPr>
      </p:sp>
      <p:sp>
        <p:nvSpPr>
          <p:cNvPr id="76" name="Shape 46"/>
          <p:cNvSpPr/>
          <p:nvPr/>
        </p:nvSpPr>
        <p:spPr>
          <a:xfrm flipV="1">
            <a:off x="2423160" y="2788920"/>
            <a:ext cx="0" cy="594360"/>
          </a:xfrm>
          <a:prstGeom prst="line">
            <a:avLst/>
          </a:prstGeom>
          <a:noFill/>
          <a:ln w="19050">
            <a:solidFill>
              <a:srgbClr val="8896A6"/>
            </a:solidFill>
            <a:prstDash val="dash"/>
            <a:tailEnd type="triangle"/>
          </a:ln>
        </p:spPr>
      </p:sp>
      <p:sp>
        <p:nvSpPr>
          <p:cNvPr id="77" name="Shape 47"/>
          <p:cNvSpPr/>
          <p:nvPr/>
        </p:nvSpPr>
        <p:spPr>
          <a:xfrm flipH="1">
            <a:off x="5806440" y="2331720"/>
            <a:ext cx="502920" cy="960120"/>
          </a:xfrm>
          <a:prstGeom prst="line">
            <a:avLst/>
          </a:prstGeom>
          <a:noFill/>
          <a:ln w="19050">
            <a:solidFill>
              <a:srgbClr val="8896A6"/>
            </a:solidFill>
            <a:prstDash val="dash"/>
            <a:tailEnd type="triangle"/>
          </a:ln>
        </p:spPr>
      </p:sp>
      <p:sp>
        <p:nvSpPr>
          <p:cNvPr id="78" name="Shape 48"/>
          <p:cNvSpPr/>
          <p:nvPr/>
        </p:nvSpPr>
        <p:spPr>
          <a:xfrm>
            <a:off x="2697480" y="4754880"/>
            <a:ext cx="960120" cy="0"/>
          </a:xfrm>
          <a:prstGeom prst="line">
            <a:avLst/>
          </a:prstGeom>
          <a:noFill/>
          <a:ln w="19050">
            <a:solidFill>
              <a:srgbClr val="8896A6"/>
            </a:solidFill>
            <a:prstDash val="solid"/>
            <a:tailEnd type="triangle"/>
          </a:ln>
        </p:spPr>
      </p:sp>
      <p:sp>
        <p:nvSpPr>
          <p:cNvPr id="79" name="Shape 49"/>
          <p:cNvSpPr/>
          <p:nvPr/>
        </p:nvSpPr>
        <p:spPr>
          <a:xfrm>
            <a:off x="4114800" y="4754880"/>
            <a:ext cx="960120" cy="0"/>
          </a:xfrm>
          <a:prstGeom prst="line">
            <a:avLst/>
          </a:prstGeom>
          <a:noFill/>
          <a:ln w="19050">
            <a:solidFill>
              <a:srgbClr val="8896A6"/>
            </a:solidFill>
            <a:prstDash val="solid"/>
            <a:tailEnd type="triangle"/>
          </a:ln>
        </p:spPr>
      </p:sp>
      <p:sp>
        <p:nvSpPr>
          <p:cNvPr id="80" name="Shape 50"/>
          <p:cNvSpPr/>
          <p:nvPr/>
        </p:nvSpPr>
        <p:spPr>
          <a:xfrm>
            <a:off x="5532120" y="4754880"/>
            <a:ext cx="868680" cy="0"/>
          </a:xfrm>
          <a:prstGeom prst="line">
            <a:avLst/>
          </a:prstGeom>
          <a:noFill/>
          <a:ln w="19050">
            <a:solidFill>
              <a:srgbClr val="8896A6"/>
            </a:solidFill>
            <a:prstDash val="solid"/>
            <a:tailEnd type="triangle"/>
          </a:ln>
        </p:spPr>
      </p:sp>
      <p:sp>
        <p:nvSpPr>
          <p:cNvPr id="81" name="Shape 51"/>
          <p:cNvSpPr/>
          <p:nvPr/>
        </p:nvSpPr>
        <p:spPr>
          <a:xfrm>
            <a:off x="6858000" y="4754880"/>
            <a:ext cx="2880360" cy="0"/>
          </a:xfrm>
          <a:prstGeom prst="line">
            <a:avLst/>
          </a:prstGeom>
          <a:noFill/>
          <a:ln w="25400">
            <a:solidFill>
              <a:srgbClr val="E8791E"/>
            </a:solidFill>
            <a:prstDash val="solid"/>
            <a:tailEnd type="triangle"/>
          </a:ln>
        </p:spPr>
      </p:sp>
      <p:sp>
        <p:nvSpPr>
          <p:cNvPr id="82" name="Shape 52"/>
          <p:cNvSpPr/>
          <p:nvPr/>
        </p:nvSpPr>
        <p:spPr>
          <a:xfrm flipV="1">
            <a:off x="5577840" y="3520440"/>
            <a:ext cx="3108960" cy="1005840"/>
          </a:xfrm>
          <a:prstGeom prst="line">
            <a:avLst/>
          </a:prstGeom>
          <a:noFill/>
          <a:ln w="19050">
            <a:solidFill>
              <a:srgbClr val="8896A6"/>
            </a:solidFill>
            <a:prstDash val="dash"/>
            <a:tailEnd type="triangle"/>
          </a:ln>
        </p:spPr>
      </p:sp>
      <p:sp>
        <p:nvSpPr>
          <p:cNvPr id="83" name="Shape 53"/>
          <p:cNvSpPr/>
          <p:nvPr/>
        </p:nvSpPr>
        <p:spPr>
          <a:xfrm flipV="1">
            <a:off x="5532120" y="2377440"/>
            <a:ext cx="2331720" cy="2148840"/>
          </a:xfrm>
          <a:prstGeom prst="line">
            <a:avLst/>
          </a:prstGeom>
          <a:noFill/>
          <a:ln w="19050">
            <a:solidFill>
              <a:srgbClr val="8896A6"/>
            </a:solidFill>
            <a:prstDash val="dash"/>
            <a:tailEnd type="triangle"/>
          </a:ln>
        </p:spPr>
      </p:sp>
      <p:sp>
        <p:nvSpPr>
          <p:cNvPr id="84" name="Text 54"/>
          <p:cNvSpPr/>
          <p:nvPr/>
        </p:nvSpPr>
        <p:spPr>
          <a:xfrm>
            <a:off x="7452360" y="4480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791E"/>
                </a:solidFill>
              </a:rPr>
              <a:t>assume role (ExternalId)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Scan &amp; Governance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loop: discover → diff → validate → attribute → notify. Runs 06:00 UTC daily plus on-demand from the UI.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EEF4FE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399032"/>
            <a:ext cx="384048" cy="384048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7" name="Image 0" descr="/tmp/aws-icons/dist/ApplicationIntegration/Event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38074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" y="1947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Trigger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7512" y="2286000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</a:rPr>
              <a:t>EventBridge Scheduler fires daily scan or user triggers on-demand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2395728"/>
            <a:ext cx="228600" cy="0"/>
          </a:xfrm>
          <a:prstGeom prst="line">
            <a:avLst/>
          </a:prstGeom>
          <a:noFill/>
          <a:ln w="25400">
            <a:solidFill>
              <a:srgbClr val="E8791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29000" y="12344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EEF4FE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93592" y="1399032"/>
            <a:ext cx="384048" cy="384048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3" name="Text 10"/>
          <p:cNvSpPr/>
          <p:nvPr/>
        </p:nvSpPr>
        <p:spPr>
          <a:xfrm>
            <a:off x="359359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4" name="Image 1" descr="/tmp/aws-icons/dist/ApplicationIntegration/StepFunc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80744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93592" y="1947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Fan out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93592" y="2286000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</a:rPr>
              <a:t>Step Functions: one unit of work per (account × region)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26480" y="2395728"/>
            <a:ext cx="228600" cy="0"/>
          </a:xfrm>
          <a:prstGeom prst="line">
            <a:avLst/>
          </a:prstGeom>
          <a:noFill/>
          <a:ln w="25400">
            <a:solidFill>
              <a:srgbClr val="E8791E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355080" y="12344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EEF4FE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19672" y="1399032"/>
            <a:ext cx="384048" cy="384048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0" name="Text 16"/>
          <p:cNvSpPr/>
          <p:nvPr/>
        </p:nvSpPr>
        <p:spPr>
          <a:xfrm>
            <a:off x="651967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1" name="Image 2" descr="/tmp/aws-icons/dist/Compute/Lambd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380744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19672" y="1947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Discover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19672" y="2286000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</a:rPr>
              <a:t>Scan worker uses its own role or assumes the scanner role; Tagging API + Cloud Control sweep, 10 enrichers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052560" y="2395728"/>
            <a:ext cx="228600" cy="0"/>
          </a:xfrm>
          <a:prstGeom prst="line">
            <a:avLst/>
          </a:prstGeom>
          <a:noFill/>
          <a:ln w="25400">
            <a:solidFill>
              <a:srgbClr val="E8791E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9281160" y="123444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EEF4FE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445752" y="1399032"/>
            <a:ext cx="384048" cy="384048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7" name="Text 22"/>
          <p:cNvSpPr/>
          <p:nvPr/>
        </p:nvSpPr>
        <p:spPr>
          <a:xfrm>
            <a:off x="9445752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28" name="Image 3" descr="/tmp/aws-icons/dist/Storage/SimpleStorageServ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0" y="1380744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445752" y="1947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Snapshot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445752" y="2286000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</a:rPr>
              <a:t>Raw JSON snapshot to S3 (immutable audit trail, Athena-ready)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02920" y="388620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67512" y="4050792"/>
            <a:ext cx="384048" cy="384048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3" name="Text 27"/>
          <p:cNvSpPr/>
          <p:nvPr/>
        </p:nvSpPr>
        <p:spPr>
          <a:xfrm>
            <a:off x="66751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pic>
        <p:nvPicPr>
          <p:cNvPr id="34" name="Image 4" descr="/tmp/aws-icons/dist/Database/Auro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4032504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67512" y="4599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Load &amp; diff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667512" y="4937760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</a:rPr>
              <a:t>Upsert + diff; SQS fan-out to compliance (findings, score) and ownership workers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3200400" y="5047488"/>
            <a:ext cx="228600" cy="0"/>
          </a:xfrm>
          <a:prstGeom prst="line">
            <a:avLst/>
          </a:prstGeom>
          <a:noFill/>
          <a:ln w="25400">
            <a:solidFill>
              <a:srgbClr val="E8791E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3429000" y="388620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3593592" y="4050792"/>
            <a:ext cx="384048" cy="384048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40" name="Text 33"/>
          <p:cNvSpPr/>
          <p:nvPr/>
        </p:nvSpPr>
        <p:spPr>
          <a:xfrm>
            <a:off x="359359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pic>
        <p:nvPicPr>
          <p:cNvPr id="41" name="Image 5" descr="/tmp/aws-icons/dist/ManagementGovernance/CloudTra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032504"/>
            <a:ext cx="457200" cy="4572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3593592" y="4599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Attribute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3593592" y="4937760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</a:rPr>
              <a:t>Ownership worker reads CloudTrail write events: creator → fallback chain → unattributed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6126480" y="5047488"/>
            <a:ext cx="228600" cy="0"/>
          </a:xfrm>
          <a:prstGeom prst="line">
            <a:avLst/>
          </a:prstGeom>
          <a:noFill/>
          <a:ln w="25400">
            <a:solidFill>
              <a:srgbClr val="E8791E"/>
            </a:solidFill>
            <a:prstDash val="solid"/>
            <a:tailEnd type="triangle"/>
          </a:ln>
        </p:spPr>
      </p:sp>
      <p:sp>
        <p:nvSpPr>
          <p:cNvPr id="45" name="Shape 37"/>
          <p:cNvSpPr/>
          <p:nvPr/>
        </p:nvSpPr>
        <p:spPr>
          <a:xfrm>
            <a:off x="6355080" y="388620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519672" y="4050792"/>
            <a:ext cx="384048" cy="384048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47" name="Text 39"/>
          <p:cNvSpPr/>
          <p:nvPr/>
        </p:nvSpPr>
        <p:spPr>
          <a:xfrm>
            <a:off x="651967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pic>
        <p:nvPicPr>
          <p:cNvPr id="48" name="Image 6" descr="/tmp/aws-icons/dist/BusinessApplications/SimpleEmailServic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4032504"/>
            <a:ext cx="457200" cy="45720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6519672" y="4599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Notify</a:t>
            </a:r>
            <a:endParaRPr lang="en-US" sz="1400" dirty="0"/>
          </a:p>
        </p:txBody>
      </p:sp>
      <p:sp>
        <p:nvSpPr>
          <p:cNvPr id="50" name="Text 41"/>
          <p:cNvSpPr/>
          <p:nvPr/>
        </p:nvSpPr>
        <p:spPr>
          <a:xfrm>
            <a:off x="6519672" y="4937760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</a:rPr>
              <a:t>SES cadence day 0/2/4 (08:00 UTC); still open at day 4 → escalation flag</a:t>
            </a:r>
            <a:endParaRPr lang="en-US" sz="1050" dirty="0"/>
          </a:p>
        </p:txBody>
      </p:sp>
      <p:sp>
        <p:nvSpPr>
          <p:cNvPr id="51" name="Shape 42"/>
          <p:cNvSpPr/>
          <p:nvPr/>
        </p:nvSpPr>
        <p:spPr>
          <a:xfrm>
            <a:off x="9052560" y="5047488"/>
            <a:ext cx="228600" cy="0"/>
          </a:xfrm>
          <a:prstGeom prst="line">
            <a:avLst/>
          </a:prstGeom>
          <a:noFill/>
          <a:ln w="25400">
            <a:solidFill>
              <a:srgbClr val="E8791E"/>
            </a:solidFill>
            <a:prstDash val="solid"/>
            <a:tailEnd type="triangle"/>
          </a:ln>
        </p:spPr>
      </p:sp>
      <p:sp>
        <p:nvSpPr>
          <p:cNvPr id="52" name="Shape 43"/>
          <p:cNvSpPr/>
          <p:nvPr/>
        </p:nvSpPr>
        <p:spPr>
          <a:xfrm>
            <a:off x="9281160" y="388620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9445752" y="4050792"/>
            <a:ext cx="384048" cy="384048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54" name="Text 45"/>
          <p:cNvSpPr/>
          <p:nvPr/>
        </p:nvSpPr>
        <p:spPr>
          <a:xfrm>
            <a:off x="944575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pic>
        <p:nvPicPr>
          <p:cNvPr id="55" name="Image 7" descr="/tmp/aws-icons/dist/ManagementGovernance/CloudWatc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8560" y="4032504"/>
            <a:ext cx="457200" cy="45720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9445752" y="4599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</a:rPr>
              <a:t>Record</a:t>
            </a:r>
            <a:endParaRPr lang="en-US" sz="1400" dirty="0"/>
          </a:p>
        </p:txBody>
      </p:sp>
      <p:sp>
        <p:nvSpPr>
          <p:cNvPr id="57" name="Text 47"/>
          <p:cNvSpPr/>
          <p:nvPr/>
        </p:nvSpPr>
        <p:spPr>
          <a:xfrm>
            <a:off x="9445752" y="4937760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2433"/>
                </a:solidFill>
              </a:rPr>
              <a:t>Scan history, durations, added/changed/removed counts → Scan operations page</a:t>
            </a:r>
            <a:endParaRPr lang="en-US" sz="1050" dirty="0"/>
          </a:p>
        </p:txBody>
      </p:sp>
      <p:sp>
        <p:nvSpPr>
          <p:cNvPr id="58" name="Shape 48"/>
          <p:cNvSpPr/>
          <p:nvPr/>
        </p:nvSpPr>
        <p:spPr>
          <a:xfrm>
            <a:off x="10972800" y="3611880"/>
            <a:ext cx="0" cy="228600"/>
          </a:xfrm>
          <a:prstGeom prst="line">
            <a:avLst/>
          </a:prstGeom>
          <a:noFill/>
          <a:ln w="25400">
            <a:solidFill>
              <a:srgbClr val="E8791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Access Model — Roles Only, Zero Stored Credentials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Same-account mode: CloudPulse scans its own account with its own read-only roles. Growth: deploy one CloudFormation stack per new account and register it with its scan regions. Access keys are deliberately not supported.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023360" cy="4892040"/>
          </a:xfrm>
          <a:prstGeom prst="roundRect">
            <a:avLst>
              <a:gd name="adj" fmla="val 1818"/>
            </a:avLst>
          </a:prstGeom>
          <a:solidFill>
            <a:srgbClr val="FBFCFE"/>
          </a:solidFill>
          <a:ln w="19050">
            <a:solidFill>
              <a:srgbClr val="232F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account — CloudPulse</a:t>
            </a:r>
            <a:endParaRPr lang="en-US" sz="1100" dirty="0"/>
          </a:p>
        </p:txBody>
      </p:sp>
      <p:pic>
        <p:nvPicPr>
          <p:cNvPr id="6" name="Image 0" descr="/tmp/aws-icons/dist/ApplicationIntegration/StepFun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10312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96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state machine</a:t>
            </a:r>
            <a:endParaRPr lang="en-US" sz="850" dirty="0"/>
          </a:p>
        </p:txBody>
      </p:sp>
      <p:pic>
        <p:nvPicPr>
          <p:cNvPr id="8" name="Image 1" descr="/tmp/aws-icons/dist/Compute/Lamb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2103120"/>
            <a:ext cx="475488" cy="475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57400" y="2596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and worker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Lambdas</a:t>
            </a:r>
            <a:endParaRPr lang="en-US" sz="850" dirty="0"/>
          </a:p>
        </p:txBody>
      </p:sp>
      <p:pic>
        <p:nvPicPr>
          <p:cNvPr id="10" name="Image 2" descr="/tmp/aws-icons/dist/SecurityIdentityCompliance/IdentityAccessManagementRo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380" y="356616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4087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sts:AssumeRole only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(scoped to cloudpulse-scanner)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777240" y="44348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32F3E"/>
                </a:solidFill>
              </a:rPr>
              <a:t>Trust controls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</a:rPr>
              <a:t>Platform-generated ExternalId per account (confused-deputy guard)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</a:rPr>
              <a:t>Read-only scanner: an explicit Describe/Get/List list, checked by a unit test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</a:rPr>
              <a:t>No write role exists: remediation is out of scope by design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2433"/>
                </a:solidFill>
              </a:rPr>
              <a:t>Sessions 15 min, all calls in the target account's CloudTrail</a:t>
            </a:r>
            <a:endParaRPr lang="en-US" sz="1100" dirty="0"/>
          </a:p>
        </p:txBody>
      </p:sp>
      <p:pic>
        <p:nvPicPr>
          <p:cNvPr id="13" name="Image 3" descr="/tmp/aws-icons/dist/ManagementGovernance/Organizatio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73736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29200" y="23042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Organizations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StackSets push the role to all accounts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7589520" y="15087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4E8"/>
          </a:solidFill>
          <a:ln w="12700">
            <a:solidFill>
              <a:srgbClr val="E8791E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699248" y="155448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account — CloudPulse runs INSIDE it</a:t>
            </a:r>
            <a:endParaRPr lang="en-US" sz="1100" dirty="0"/>
          </a:p>
        </p:txBody>
      </p:sp>
      <p:pic>
        <p:nvPicPr>
          <p:cNvPr id="17" name="Image 4" descr="/tmp/aws-icons/dist/SecurityIdentityCompliance/IdentityAccessManagementRo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1938528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35440" y="19568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3"/>
                </a:solidFill>
              </a:rPr>
              <a:t>Own read-only roles (no AssumeRole)</a:t>
            </a:r>
            <a:endParaRPr lang="en-US" sz="900" dirty="0"/>
          </a:p>
        </p:txBody>
      </p:sp>
      <p:pic>
        <p:nvPicPr>
          <p:cNvPr id="19" name="Image 5" descr="/tmp/aws-icons/dist/ManagementGovernance/CloudTra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5640" y="1938528"/>
            <a:ext cx="411480" cy="41148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572000" y="2103120"/>
            <a:ext cx="3017520" cy="0"/>
          </a:xfrm>
          <a:prstGeom prst="line">
            <a:avLst/>
          </a:prstGeom>
          <a:noFill/>
          <a:ln w="19050">
            <a:solidFill>
              <a:srgbClr val="8896A6"/>
            </a:solidFill>
            <a:prstDash val="dash"/>
            <a:tailEnd type="triangle"/>
          </a:ln>
        </p:spPr>
      </p:sp>
      <p:sp>
        <p:nvSpPr>
          <p:cNvPr id="21" name="Shape 13"/>
          <p:cNvSpPr/>
          <p:nvPr/>
        </p:nvSpPr>
        <p:spPr>
          <a:xfrm>
            <a:off x="7589520" y="297180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4E8"/>
          </a:solidFill>
          <a:ln w="12700">
            <a:solidFill>
              <a:srgbClr val="E8791E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7699248" y="301752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account #2 (cross-account mode)</a:t>
            </a:r>
            <a:endParaRPr lang="en-US" sz="1100" dirty="0"/>
          </a:p>
        </p:txBody>
      </p:sp>
      <p:pic>
        <p:nvPicPr>
          <p:cNvPr id="23" name="Image 6" descr="/tmp/aws-icons/dist/ManagementGovernance/CloudForm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3401568"/>
            <a:ext cx="411480" cy="411480"/>
          </a:xfrm>
          <a:prstGeom prst="rect">
            <a:avLst/>
          </a:prstGeom>
        </p:spPr>
      </p:pic>
      <p:pic>
        <p:nvPicPr>
          <p:cNvPr id="24" name="Image 7" descr="/tmp/aws-icons/dist/SecurityIdentityCompliance/IdentityAccessManagementRo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0" y="3401568"/>
            <a:ext cx="411480" cy="4114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235440" y="34198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3"/>
                </a:solidFill>
              </a:rPr>
              <a:t>cloudpulse-scanner</a:t>
            </a:r>
            <a:endParaRPr lang="en-US" sz="900" dirty="0"/>
          </a:p>
        </p:txBody>
      </p:sp>
      <p:pic>
        <p:nvPicPr>
          <p:cNvPr id="26" name="Image 8" descr="/tmp/aws-icons/dist/ManagementGovernance/CloudTrai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5640" y="3401568"/>
            <a:ext cx="411480" cy="411480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4572000" y="3566160"/>
            <a:ext cx="3017520" cy="0"/>
          </a:xfrm>
          <a:prstGeom prst="line">
            <a:avLst/>
          </a:prstGeom>
          <a:noFill/>
          <a:ln w="25400">
            <a:solidFill>
              <a:srgbClr val="E8791E"/>
            </a:solidFill>
            <a:prstDash val="solid"/>
            <a:tailEnd type="triangle"/>
          </a:ln>
        </p:spPr>
      </p:sp>
      <p:sp>
        <p:nvSpPr>
          <p:cNvPr id="28" name="Shape 17"/>
          <p:cNvSpPr/>
          <p:nvPr/>
        </p:nvSpPr>
        <p:spPr>
          <a:xfrm>
            <a:off x="7589520" y="44348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FF4E8"/>
          </a:solidFill>
          <a:ln w="12700">
            <a:solidFill>
              <a:srgbClr val="E8791E"/>
            </a:solidFill>
            <a:prstDash val="solid"/>
          </a:ln>
        </p:spPr>
      </p:sp>
      <p:sp>
        <p:nvSpPr>
          <p:cNvPr id="29" name="Text 18"/>
          <p:cNvSpPr/>
          <p:nvPr/>
        </p:nvSpPr>
        <p:spPr>
          <a:xfrm>
            <a:off x="7699248" y="448056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account #3 (cross-account mode)</a:t>
            </a:r>
            <a:endParaRPr lang="en-US" sz="1100" dirty="0"/>
          </a:p>
        </p:txBody>
      </p:sp>
      <p:pic>
        <p:nvPicPr>
          <p:cNvPr id="30" name="Image 9" descr="/tmp/aws-icons/dist/ManagementGovernance/CloudFormatio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120" y="4864608"/>
            <a:ext cx="411480" cy="411480"/>
          </a:xfrm>
          <a:prstGeom prst="rect">
            <a:avLst/>
          </a:prstGeom>
        </p:spPr>
      </p:pic>
      <p:pic>
        <p:nvPicPr>
          <p:cNvPr id="31" name="Image 10" descr="/tmp/aws-icons/dist/SecurityIdentityCompliance/IdentityAccessManagementRo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32520" y="4864608"/>
            <a:ext cx="411480" cy="4114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9235440" y="48828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433"/>
                </a:solidFill>
              </a:rPr>
              <a:t>cloudpulse-scanner</a:t>
            </a:r>
            <a:endParaRPr lang="en-US" sz="900" dirty="0"/>
          </a:p>
        </p:txBody>
      </p:sp>
      <p:pic>
        <p:nvPicPr>
          <p:cNvPr id="33" name="Image 11" descr="/tmp/aws-icons/dist/ManagementGovernance/CloudTrai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35640" y="4864608"/>
            <a:ext cx="411480" cy="411480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4572000" y="5029200"/>
            <a:ext cx="3017520" cy="0"/>
          </a:xfrm>
          <a:prstGeom prst="line">
            <a:avLst/>
          </a:prstGeom>
          <a:noFill/>
          <a:ln w="25400">
            <a:solidFill>
              <a:srgbClr val="E8791E"/>
            </a:solidFill>
            <a:prstDash val="solid"/>
            <a:tailEnd type="triangle"/>
          </a:ln>
        </p:spPr>
      </p:sp>
      <p:sp>
        <p:nvSpPr>
          <p:cNvPr id="35" name="Text 21"/>
          <p:cNvSpPr/>
          <p:nvPr/>
        </p:nvSpPr>
        <p:spPr>
          <a:xfrm>
            <a:off x="4709160" y="1188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673"/>
                </a:solidFill>
              </a:rPr>
              <a:t>dashed = hub runs in this account (local role)   solid = sts:AssumeRole (ExternalId)</a:t>
            </a:r>
            <a:endParaRPr lang="en-US" sz="850" dirty="0"/>
          </a:p>
        </p:txBody>
      </p:sp>
      <p:sp>
        <p:nvSpPr>
          <p:cNvPr id="36" name="Shape 22"/>
          <p:cNvSpPr/>
          <p:nvPr/>
        </p:nvSpPr>
        <p:spPr>
          <a:xfrm>
            <a:off x="5806440" y="2697480"/>
            <a:ext cx="1783080" cy="411480"/>
          </a:xfrm>
          <a:prstGeom prst="line">
            <a:avLst/>
          </a:prstGeom>
          <a:noFill/>
          <a:ln w="19050">
            <a:solidFill>
              <a:srgbClr val="8896A6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Governance &amp; AI Layer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signals come from native AWS services; the AI explains and recommends — it never holds credentials or executes changes.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8016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governance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0" y="1325880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E8791E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0" y="1325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P1/P2</a:t>
            </a:r>
            <a:endParaRPr lang="en-US" sz="900" dirty="0"/>
          </a:p>
        </p:txBody>
      </p:sp>
      <p:pic>
        <p:nvPicPr>
          <p:cNvPr id="8" name="Image 0" descr="/tmp/aws-icons/dist/CloudFinancialManagement/CostExplor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1828800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3225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Explorer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spend per account</a:t>
            </a:r>
            <a:endParaRPr lang="en-US" sz="850" dirty="0"/>
          </a:p>
        </p:txBody>
      </p:sp>
      <p:pic>
        <p:nvPicPr>
          <p:cNvPr id="10" name="Image 1" descr="/tmp/aws-icons/dist/CloudFinancialManagement/Budge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182880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23160" y="23225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per SDA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auto-created in CloudPulse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overrun → finding</a:t>
            </a:r>
            <a:endParaRPr lang="en-US" sz="850" dirty="0"/>
          </a:p>
        </p:txBody>
      </p:sp>
      <p:pic>
        <p:nvPicPr>
          <p:cNvPr id="12" name="Image 2" descr="/tmp/aws-icons/dist/ManagementGovernance/ComputeOptimiz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1828800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069080" y="23225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metrics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rightsizing evidence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822960" y="329184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</a:rPr>
              <a:t>Overrun detection: actual spend vs SDA budget → findings pipeline (same lifecycle as tag findings)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</a:rPr>
              <a:t>Utilization: active vs idle from resource state; IAM hygiene flags unused principals weekly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</a:rPr>
              <a:t>Cost dashboard: daily spend by account and SDA; forecasts with their backtest error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</a:rPr>
              <a:t>Rightsizing: low and steady CPU → one size down, with evidence and an estimated saving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309360" y="123444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EEF4FE"/>
          </a:solidFill>
          <a:ln w="12700">
            <a:solidFill>
              <a:srgbClr val="B9CDE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419088" y="128016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on Bedrock AgentCore + Nova 2 Lite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0607040" y="1325880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2E6FDB"/>
          </a:solidFill>
          <a:ln/>
        </p:spPr>
      </p:sp>
      <p:sp>
        <p:nvSpPr>
          <p:cNvPr id="18" name="Text 13"/>
          <p:cNvSpPr/>
          <p:nvPr/>
        </p:nvSpPr>
        <p:spPr>
          <a:xfrm>
            <a:off x="10607040" y="1325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P1/P2</a:t>
            </a:r>
            <a:endParaRPr lang="en-US" sz="900" dirty="0"/>
          </a:p>
        </p:txBody>
      </p:sp>
      <p:pic>
        <p:nvPicPr>
          <p:cNvPr id="19" name="Image 3" descr="/tmp/aws-icons/dist/ArtificialIntelligence/Bedr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82880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446520" y="239572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AgentCore Runtime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Converse tool loop</a:t>
            </a:r>
            <a:endParaRPr lang="en-US" sz="850" dirty="0"/>
          </a:p>
        </p:txBody>
      </p:sp>
      <p:pic>
        <p:nvPicPr>
          <p:cNvPr id="21" name="Image 4" descr="/tmp/aws-icons/dist/Compute/Lambd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1828800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01000" y="23225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workers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(digest, suggester)</a:t>
            </a:r>
            <a:endParaRPr lang="en-US" sz="850" dirty="0"/>
          </a:p>
        </p:txBody>
      </p:sp>
      <p:pic>
        <p:nvPicPr>
          <p:cNvPr id="23" name="Image 5" descr="/tmp/aws-icons/dist/NetworkingContentDelivery/APIGatew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4976" y="1828800"/>
            <a:ext cx="475488" cy="4754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555480" y="23225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tools</a:t>
            </a:r>
            <a:endParaRPr lang="en-US" sz="85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allowlisted GETs only</a:t>
            </a:r>
            <a:endParaRPr lang="en-US" sz="850" dirty="0"/>
          </a:p>
        </p:txBody>
      </p:sp>
      <p:sp>
        <p:nvSpPr>
          <p:cNvPr id="25" name="Text 17"/>
          <p:cNvSpPr/>
          <p:nvPr/>
        </p:nvSpPr>
        <p:spPr>
          <a:xfrm>
            <a:off x="6583680" y="329184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</a:rPr>
              <a:t>Insight digest: daily summary of top findings + spend → overview card, grounded before display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</a:rPr>
              <a:t>Remediation suggester: one suggestion + blast-radius note per finding; people act on it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</a:rPr>
              <a:t>Grounding gate: deterministic code rejects any invented ARN or figure; rejections are recorded, never shown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A2433"/>
                </a:solidFill>
              </a:rPr>
              <a:t>Cost control: per-run token cap; item-wise outputs keep validated items; Guardrail on every call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Terraform + GitHub Actions (OIDC, no long-lived keys)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Monorepo: /infra (Terraform), /backend (FastAPI + workers), /frontend (Angular), /agents, /specs. Trunk-based on pods/pod73.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Pull request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2433"/>
                </a:solidFill>
              </a:rPr>
              <a:t>16 required checks: lint • types • unit • integration • e2e • tf • contract • evals • AI review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2240280"/>
            <a:ext cx="228600" cy="0"/>
          </a:xfrm>
          <a:prstGeom prst="line">
            <a:avLst/>
          </a:prstGeom>
          <a:noFill/>
          <a:ln w="25400">
            <a:solidFill>
              <a:srgbClr val="E8791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29000" y="13716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Merge to pods/pod73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828800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2433"/>
                </a:solidFill>
              </a:rPr>
              <a:t>Trunk stays green; automatic dev deploy is off (DEV_AUTO_DEPLOY=false)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2240280"/>
            <a:ext cx="228600" cy="0"/>
          </a:xfrm>
          <a:prstGeom prst="line">
            <a:avLst/>
          </a:prstGeom>
          <a:noFill/>
          <a:ln w="25400">
            <a:solidFill>
              <a:srgbClr val="E8791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13716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Deploy dev (manual)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828800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2433"/>
                </a:solidFill>
              </a:rPr>
              <a:t>build • terraform apply (optional NAT egress) • migrations • health + Playwright smoke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61120" y="2240280"/>
            <a:ext cx="228600" cy="0"/>
          </a:xfrm>
          <a:prstGeom prst="line">
            <a:avLst/>
          </a:prstGeom>
          <a:noFill/>
          <a:ln w="25400">
            <a:solidFill>
              <a:srgbClr val="E8791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89720" y="13716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AF6EF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F3E"/>
                </a:solidFill>
              </a:rPr>
              <a:t>Teardown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0" y="1828800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A2433"/>
                </a:solidFill>
              </a:rPr>
              <a:t>ops/teardown.sh dev • sweep against the pre-deploy baseline • zero cost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BFCFE"/>
          </a:solidFill>
          <a:ln w="12700">
            <a:solidFill>
              <a:srgbClr val="889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61188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— the one environment, deployed per working session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56616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BFCFE"/>
          </a:solidFill>
          <a:ln w="19050">
            <a:solidFill>
              <a:srgbClr val="232F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361188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 root module — kept in the repo, unused by decision</a:t>
            </a:r>
            <a:endParaRPr lang="en-US" sz="1100" dirty="0"/>
          </a:p>
        </p:txBody>
      </p:sp>
      <p:pic>
        <p:nvPicPr>
          <p:cNvPr id="23" name="Image 0" descr="/tmp/aws-icons/dist/NetworkingContentDelivery/Cloud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4069080"/>
            <a:ext cx="420624" cy="420624"/>
          </a:xfrm>
          <a:prstGeom prst="rect">
            <a:avLst/>
          </a:prstGeom>
        </p:spPr>
      </p:pic>
      <p:pic>
        <p:nvPicPr>
          <p:cNvPr id="24" name="Image 1" descr="/tmp/aws-icons/dist/Storage/SimpleStorageServ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4069080"/>
            <a:ext cx="420624" cy="420624"/>
          </a:xfrm>
          <a:prstGeom prst="rect">
            <a:avLst/>
          </a:prstGeom>
        </p:spPr>
      </p:pic>
      <p:pic>
        <p:nvPicPr>
          <p:cNvPr id="25" name="Image 2" descr="/tmp/aws-icons/dist/NetworkingContentDelivery/APIGatew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28" y="4069080"/>
            <a:ext cx="420624" cy="420624"/>
          </a:xfrm>
          <a:prstGeom prst="rect">
            <a:avLst/>
          </a:prstGeom>
        </p:spPr>
      </p:pic>
      <p:pic>
        <p:nvPicPr>
          <p:cNvPr id="26" name="Image 3" descr="/tmp/aws-icons/dist/Compute/Lambd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4069080"/>
            <a:ext cx="420624" cy="420624"/>
          </a:xfrm>
          <a:prstGeom prst="rect">
            <a:avLst/>
          </a:prstGeom>
        </p:spPr>
      </p:pic>
      <p:pic>
        <p:nvPicPr>
          <p:cNvPr id="27" name="Image 4" descr="/tmp/aws-icons/dist/ApplicationIntegration/StepFunc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4069080"/>
            <a:ext cx="420624" cy="420624"/>
          </a:xfrm>
          <a:prstGeom prst="rect">
            <a:avLst/>
          </a:prstGeom>
        </p:spPr>
      </p:pic>
      <p:pic>
        <p:nvPicPr>
          <p:cNvPr id="28" name="Image 5" descr="/tmp/aws-icons/dist/Database/Auro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3208" y="4069080"/>
            <a:ext cx="420624" cy="42062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7724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73"/>
                </a:solidFill>
              </a:rPr>
              <a:t>CloudFront   S3 SPA   API GW   Lambdas   Step Fn   Aurora</a:t>
            </a:r>
            <a:endParaRPr lang="en-US" sz="850" dirty="0"/>
          </a:p>
        </p:txBody>
      </p:sp>
      <p:pic>
        <p:nvPicPr>
          <p:cNvPr id="30" name="Image 6" descr="/tmp/aws-icons/dist/NetworkingContentDelivery/CloudFro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4069080"/>
            <a:ext cx="420624" cy="420624"/>
          </a:xfrm>
          <a:prstGeom prst="rect">
            <a:avLst/>
          </a:prstGeom>
        </p:spPr>
      </p:pic>
      <p:pic>
        <p:nvPicPr>
          <p:cNvPr id="31" name="Image 7" descr="/tmp/aws-icons/dist/Storage/SimpleStorageServi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62088" y="4069080"/>
            <a:ext cx="420624" cy="420624"/>
          </a:xfrm>
          <a:prstGeom prst="rect">
            <a:avLst/>
          </a:prstGeom>
        </p:spPr>
      </p:pic>
      <p:pic>
        <p:nvPicPr>
          <p:cNvPr id="32" name="Image 8" descr="/tmp/aws-icons/dist/NetworkingContentDelivery/APIGatew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048" y="4069080"/>
            <a:ext cx="420624" cy="420624"/>
          </a:xfrm>
          <a:prstGeom prst="rect">
            <a:avLst/>
          </a:prstGeom>
        </p:spPr>
      </p:pic>
      <p:pic>
        <p:nvPicPr>
          <p:cNvPr id="33" name="Image 9" descr="/tmp/aws-icons/dist/Compute/Lambd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8008" y="4069080"/>
            <a:ext cx="420624" cy="420624"/>
          </a:xfrm>
          <a:prstGeom prst="rect">
            <a:avLst/>
          </a:prstGeom>
        </p:spPr>
      </p:pic>
      <p:pic>
        <p:nvPicPr>
          <p:cNvPr id="34" name="Image 10" descr="/tmp/aws-icons/dist/ApplicationIntegration/StepFunction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30968" y="4069080"/>
            <a:ext cx="420624" cy="420624"/>
          </a:xfrm>
          <a:prstGeom prst="rect">
            <a:avLst/>
          </a:prstGeom>
        </p:spPr>
      </p:pic>
      <p:pic>
        <p:nvPicPr>
          <p:cNvPr id="35" name="Image 11" descr="/tmp/aws-icons/dist/Database/Auror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53928" y="4069080"/>
            <a:ext cx="420624" cy="420624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537960" y="4572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673"/>
                </a:solidFill>
              </a:rPr>
              <a:t>CloudFront   S3 SPA   API GW   Lambdas   Step Fn   Aurora</a:t>
            </a:r>
            <a:endParaRPr lang="en-US" sz="850" dirty="0"/>
          </a:p>
        </p:txBody>
      </p:sp>
      <p:sp>
        <p:nvSpPr>
          <p:cNvPr id="37" name="Text 23"/>
          <p:cNvSpPr/>
          <p:nvPr/>
        </p:nvSpPr>
        <p:spPr>
          <a:xfrm>
            <a:off x="822960" y="50292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433"/>
                </a:solidFill>
              </a:rPr>
              <a:t>One environment by decision: dev is deployed for a session, then torn down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433"/>
                </a:solidFill>
              </a:rPr>
              <a:t>GitHub OIDC federation → short-lived deploy role, no stored keys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433"/>
                </a:solidFill>
              </a:rPr>
              <a:t>Terraform state in S3 + DynamoDB lock</a:t>
            </a:r>
            <a:endParaRPr lang="en-US" sz="1050" dirty="0"/>
          </a:p>
        </p:txBody>
      </p:sp>
      <p:sp>
        <p:nvSpPr>
          <p:cNvPr id="38" name="Text 24"/>
          <p:cNvSpPr/>
          <p:nvPr/>
        </p:nvSpPr>
        <p:spPr>
          <a:xfrm>
            <a:off x="6583680" y="50292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433"/>
                </a:solidFill>
              </a:rPr>
              <a:t>Rollback: redeploy the previous commit; migrations are additive-only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433"/>
                </a:solidFill>
              </a:rPr>
              <a:t>Observability: structured logs + correlation IDs; dashboards and alarms are optional (P2, off)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433"/>
                </a:solidFill>
              </a:rPr>
              <a:t>Full pipeline, provisioning and teardown in the Engineering Guide and README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2026-08-13T22:16:32Z</dcterms:created>
  <dcterms:modified xsi:type="dcterms:W3CDTF">2026-08-13T22:16:32Z</dcterms:modified>
</cp:coreProperties>
</file>