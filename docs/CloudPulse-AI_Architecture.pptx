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3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6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0.png"/><Relationship Id="rId22" Type="http://schemas.openxmlformats.org/officeDocument/2006/relationships/image" Target="../media/image-2-1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3.png"/><Relationship Id="rId27" Type="http://schemas.openxmlformats.org/officeDocument/2006/relationships/image" Target="../media/image-2-6.png"/><Relationship Id="rId28" Type="http://schemas.openxmlformats.org/officeDocument/2006/relationships/image" Target="../media/image-2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3.png"/><Relationship Id="rId9" Type="http://schemas.openxmlformats.org/officeDocument/2006/relationships/image" Target="../media/image-4-6.png"/><Relationship Id="rId10" Type="http://schemas.openxmlformats.org/officeDocument/2006/relationships/image" Target="../media/image-4-7.png"/><Relationship Id="rId11" Type="http://schemas.openxmlformats.org/officeDocument/2006/relationships/image" Target="../media/image-4-3.png"/><Relationship Id="rId12" Type="http://schemas.openxmlformats.org/officeDocument/2006/relationships/image" Target="../media/image-4-6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1.png"/><Relationship Id="rId8" Type="http://schemas.openxmlformats.org/officeDocument/2006/relationships/image" Target="../media/image-6-2.png"/><Relationship Id="rId9" Type="http://schemas.openxmlformats.org/officeDocument/2006/relationships/image" Target="../media/image-6-3.png"/><Relationship Id="rId10" Type="http://schemas.openxmlformats.org/officeDocument/2006/relationships/image" Target="../media/image-6-4.png"/><Relationship Id="rId11" Type="http://schemas.openxmlformats.org/officeDocument/2006/relationships/image" Target="../media/image-6-5.png"/><Relationship Id="rId12" Type="http://schemas.openxmlformats.org/officeDocument/2006/relationships/image" Target="../media/image-6-6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CloudPulse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50392" y="2971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4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AWS Architecture — Serverless Cloud Governance, Cost &amp; Compliance Platform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now, SaaS-ready  •  Python + FastAPI on Lambda  •  Angular 18  •  Amazon Bedrock  •  Aurora Serverless v2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6" name="Image 0" descr="/tmp/aws-icons/dist/ApplicationIntegration/Event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4846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974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9" name="Image 1" descr="/tmp/aws-icons/dist/ManagementGovernance/CloudTr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48463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974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262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12" name="Image 2" descr="/tmp/aws-icons/dist/BusinessApplications/SimpleEmail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48463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262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3550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15" name="Image 3" descr="/tmp/aws-icons/dist/Compute/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484632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550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Remediate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838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18" name="Image 4" descr="/tmp/aws-icons/dist/CloudFinancialManagement/CostExplor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0808" y="484632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1838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10012680" y="4663440"/>
            <a:ext cx="1600200" cy="1234440"/>
          </a:xfrm>
          <a:prstGeom prst="roundRect">
            <a:avLst>
              <a:gd name="adj" fmla="val 5926"/>
            </a:avLst>
          </a:prstGeom>
          <a:solidFill>
            <a:srgbClr val="2C3B4F"/>
          </a:solidFill>
          <a:ln/>
        </p:spPr>
      </p:sp>
      <p:pic>
        <p:nvPicPr>
          <p:cNvPr id="21" name="Image 5" descr="/tmp/aws-icons/dist/ArtificialIntelligence/Bedro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9608" y="484632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012680" y="5394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850392" y="63093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3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• August 2026 • All deliverables: Plan &amp; Tech Stack (docx), Backlog (xlsx), Engineering Guide (docx)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Architecture — Serverless Hub Account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CloudPulse components deploy in your hub AWS account; each spoke account gets one read-only IAM role via CloudFormation.</a:t>
            </a:r>
            <a:endParaRPr lang="en-US" sz="1200" dirty="0"/>
          </a:p>
        </p:txBody>
      </p:sp>
      <p:pic>
        <p:nvPicPr>
          <p:cNvPr id="4" name="Image 0" descr="/tmp/aws-icons/dist/General/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0756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users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 / operator / viewer)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1691640" y="1051560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BFCFE"/>
          </a:solidFill>
          <a:ln w="19050">
            <a:solidFill>
              <a:srgbClr val="232F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01368" y="1097280"/>
            <a:ext cx="7598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CloudPulse Hub AWS Account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874520" y="1481328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84248" y="1527048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000" dirty="0"/>
          </a:p>
        </p:txBody>
      </p:sp>
      <p:pic>
        <p:nvPicPr>
          <p:cNvPr id="10" name="Image 1" descr="/tmp/aws-icons/dist/NetworkingContentDelivery/Cloud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828800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WAF</a:t>
            </a:r>
            <a:endParaRPr lang="en-US" sz="850" dirty="0"/>
          </a:p>
        </p:txBody>
      </p:sp>
      <p:pic>
        <p:nvPicPr>
          <p:cNvPr id="12" name="Image 2" descr="/tmp/aws-icons/dist/Storage/SimpleStorage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1828800"/>
            <a:ext cx="475488" cy="475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83464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— Angular 18 SPA</a:t>
            </a:r>
            <a:endParaRPr lang="en-US" sz="850" dirty="0"/>
          </a:p>
        </p:txBody>
      </p:sp>
      <p:pic>
        <p:nvPicPr>
          <p:cNvPr id="14" name="Image 3" descr="/tmp/aws-icons/dist/SecurityIdentityCompliance/Cogni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416" y="3429000"/>
            <a:ext cx="475488" cy="4754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45920" y="39227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(SSO, JWT)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4434840" y="148132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544568" y="152704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layer</a:t>
            </a:r>
            <a:endParaRPr lang="en-US" sz="1000" dirty="0"/>
          </a:p>
        </p:txBody>
      </p:sp>
      <p:pic>
        <p:nvPicPr>
          <p:cNvPr id="18" name="Image 4" descr="/tmp/aws-icons/dist/NetworkingContentDelivery/APIGatew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736" y="1828800"/>
            <a:ext cx="475488" cy="4754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420624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(HTTP API)</a:t>
            </a:r>
            <a:endParaRPr lang="en-US" sz="850" dirty="0"/>
          </a:p>
        </p:txBody>
      </p:sp>
      <p:pic>
        <p:nvPicPr>
          <p:cNvPr id="20" name="Image 5" descr="/tmp/aws-icons/dist/Compute/Lambd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1616" y="1828800"/>
            <a:ext cx="475488" cy="47548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53212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Lambda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(Python 3.12)</a:t>
            </a:r>
            <a:endParaRPr lang="en-US" sz="850" dirty="0"/>
          </a:p>
        </p:txBody>
      </p:sp>
      <p:sp>
        <p:nvSpPr>
          <p:cNvPr id="22" name="Shape 14"/>
          <p:cNvSpPr/>
          <p:nvPr/>
        </p:nvSpPr>
        <p:spPr>
          <a:xfrm>
            <a:off x="7452360" y="1481328"/>
            <a:ext cx="1874520" cy="2606040"/>
          </a:xfrm>
          <a:prstGeom prst="roundRect">
            <a:avLst>
              <a:gd name="adj" fmla="val 3902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7562088" y="15270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data</a:t>
            </a:r>
            <a:endParaRPr lang="en-US" sz="1000" dirty="0"/>
          </a:p>
        </p:txBody>
      </p:sp>
      <p:pic>
        <p:nvPicPr>
          <p:cNvPr id="24" name="Image 6" descr="/tmp/aws-icons/dist/Database/Auro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3256" y="1828800"/>
            <a:ext cx="475488" cy="4754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22376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Aurora Serverless v2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50" dirty="0"/>
          </a:p>
        </p:txBody>
      </p:sp>
      <p:pic>
        <p:nvPicPr>
          <p:cNvPr id="26" name="Image 7" descr="/tmp/aws-icons/dist/Storage/SimpleStorage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0496" y="2926080"/>
            <a:ext cx="475488" cy="475488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8001000" y="34198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raw scan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</a:t>
            </a:r>
            <a:endParaRPr lang="en-US" sz="850" dirty="0"/>
          </a:p>
        </p:txBody>
      </p:sp>
      <p:sp>
        <p:nvSpPr>
          <p:cNvPr id="28" name="Shape 18"/>
          <p:cNvSpPr/>
          <p:nvPr/>
        </p:nvSpPr>
        <p:spPr>
          <a:xfrm>
            <a:off x="1874520" y="416052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EF4FE"/>
          </a:solidFill>
          <a:ln w="12700">
            <a:solidFill>
              <a:srgbClr val="B9CDEB"/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1984248" y="4206240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&amp; orchestration plane</a:t>
            </a:r>
            <a:endParaRPr lang="en-US" sz="1000" dirty="0"/>
          </a:p>
        </p:txBody>
      </p:sp>
      <p:pic>
        <p:nvPicPr>
          <p:cNvPr id="30" name="Image 8" descr="/tmp/aws-icons/dist/ApplicationIntegration/EventBrid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1136" y="4526280"/>
            <a:ext cx="475488" cy="47548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1691640" y="5020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EventBridge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(daily)</a:t>
            </a:r>
            <a:endParaRPr lang="en-US" sz="850" dirty="0"/>
          </a:p>
        </p:txBody>
      </p:sp>
      <p:pic>
        <p:nvPicPr>
          <p:cNvPr id="32" name="Image 9" descr="/tmp/aws-icons/dist/ApplicationIntegration/StepFunction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456" y="4526280"/>
            <a:ext cx="475488" cy="47548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108960" y="5020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 fan-out)</a:t>
            </a:r>
            <a:endParaRPr lang="en-US" sz="850" dirty="0"/>
          </a:p>
        </p:txBody>
      </p:sp>
      <p:pic>
        <p:nvPicPr>
          <p:cNvPr id="34" name="Image 10" descr="/tmp/aws-icons/dist/Compute/Lambd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5776" y="4526280"/>
            <a:ext cx="475488" cy="475488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4526280" y="5020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Lambdas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(account × region × service)</a:t>
            </a:r>
            <a:endParaRPr lang="en-US" sz="850" dirty="0"/>
          </a:p>
        </p:txBody>
      </p:sp>
      <p:pic>
        <p:nvPicPr>
          <p:cNvPr id="36" name="Image 11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1656" y="4526280"/>
            <a:ext cx="475488" cy="475488"/>
          </a:xfrm>
          <a:prstGeom prst="rect">
            <a:avLst/>
          </a:prstGeom>
        </p:spPr>
      </p:pic>
      <p:sp>
        <p:nvSpPr>
          <p:cNvPr id="37" name="Text 23"/>
          <p:cNvSpPr/>
          <p:nvPr/>
        </p:nvSpPr>
        <p:spPr>
          <a:xfrm>
            <a:off x="5852160" y="5020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role (launch) /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AssumeRole + ExternalId</a:t>
            </a:r>
            <a:endParaRPr lang="en-US" sz="850" dirty="0"/>
          </a:p>
        </p:txBody>
      </p:sp>
      <p:sp>
        <p:nvSpPr>
          <p:cNvPr id="38" name="Shape 24"/>
          <p:cNvSpPr/>
          <p:nvPr/>
        </p:nvSpPr>
        <p:spPr>
          <a:xfrm>
            <a:off x="4434840" y="3246120"/>
            <a:ext cx="2743200" cy="841248"/>
          </a:xfrm>
          <a:prstGeom prst="roundRect">
            <a:avLst>
              <a:gd name="adj" fmla="val 8696"/>
            </a:avLst>
          </a:prstGeom>
          <a:solidFill>
            <a:srgbClr val="F8F3EC"/>
          </a:solidFill>
          <a:ln w="12700">
            <a:solidFill>
              <a:srgbClr val="E3D5C0"/>
            </a:solidFill>
            <a:prstDash val="solid"/>
          </a:ln>
        </p:spPr>
      </p:sp>
      <p:pic>
        <p:nvPicPr>
          <p:cNvPr id="39" name="Image 12" descr="/tmp/aws-icons/dist/ApplicationIntegration/SimpleQueueServi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0016" y="3310128"/>
            <a:ext cx="384048" cy="384048"/>
          </a:xfrm>
          <a:prstGeom prst="rect">
            <a:avLst/>
          </a:prstGeom>
        </p:spPr>
      </p:pic>
      <p:sp>
        <p:nvSpPr>
          <p:cNvPr id="40" name="Text 25"/>
          <p:cNvSpPr/>
          <p:nvPr/>
        </p:nvSpPr>
        <p:spPr>
          <a:xfrm>
            <a:off x="4114800" y="37124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SQS + workers</a:t>
            </a:r>
            <a:endParaRPr lang="en-US" sz="800" dirty="0"/>
          </a:p>
        </p:txBody>
      </p:sp>
      <p:pic>
        <p:nvPicPr>
          <p:cNvPr id="41" name="Image 13" descr="/tmp/aws-icons/dist/BusinessApplications/SimpleEmailServic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14416" y="3310128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/>
          <p:nvPr/>
        </p:nvSpPr>
        <p:spPr>
          <a:xfrm>
            <a:off x="5029200" y="37124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</a:t>
            </a:r>
            <a:endParaRPr lang="en-US" sz="800" dirty="0"/>
          </a:p>
        </p:txBody>
      </p:sp>
      <p:pic>
        <p:nvPicPr>
          <p:cNvPr id="43" name="Image 14" descr="/tmp/aws-icons/dist/ArtificialIntelligence/Bedroc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3310128"/>
            <a:ext cx="384048" cy="384048"/>
          </a:xfrm>
          <a:prstGeom prst="rect">
            <a:avLst/>
          </a:prstGeom>
        </p:spPr>
      </p:pic>
      <p:sp>
        <p:nvSpPr>
          <p:cNvPr id="44" name="Text 27"/>
          <p:cNvSpPr/>
          <p:nvPr/>
        </p:nvSpPr>
        <p:spPr>
          <a:xfrm>
            <a:off x="5943600" y="37124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(R2+)</a:t>
            </a:r>
            <a:endParaRPr lang="en-US" sz="800" dirty="0"/>
          </a:p>
        </p:txBody>
      </p:sp>
      <p:sp>
        <p:nvSpPr>
          <p:cNvPr id="45" name="Text 28"/>
          <p:cNvSpPr/>
          <p:nvPr/>
        </p:nvSpPr>
        <p:spPr>
          <a:xfrm>
            <a:off x="1920240" y="5779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673"/>
                </a:solidFill>
              </a:rPr>
              <a:t>Platform: </a:t>
            </a:r>
            <a:endParaRPr lang="en-US" sz="900" dirty="0"/>
          </a:p>
        </p:txBody>
      </p:sp>
      <p:pic>
        <p:nvPicPr>
          <p:cNvPr id="46" name="Image 15" descr="/tmp/aws-icons/dist/ManagementGovernance/CloudWatch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97480" y="5742432"/>
            <a:ext cx="310896" cy="310896"/>
          </a:xfrm>
          <a:prstGeom prst="rect">
            <a:avLst/>
          </a:prstGeom>
        </p:spPr>
      </p:pic>
      <p:sp>
        <p:nvSpPr>
          <p:cNvPr id="47" name="Text 29"/>
          <p:cNvSpPr/>
          <p:nvPr/>
        </p:nvSpPr>
        <p:spPr>
          <a:xfrm>
            <a:off x="3035808" y="5760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CloudWatch</a:t>
            </a:r>
            <a:endParaRPr lang="en-US" sz="850" dirty="0"/>
          </a:p>
        </p:txBody>
      </p:sp>
      <p:pic>
        <p:nvPicPr>
          <p:cNvPr id="48" name="Image 16" descr="/tmp/aws-icons/dist/SecurityIdentityCompliance/SecretsManag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69080" y="5742432"/>
            <a:ext cx="310896" cy="310896"/>
          </a:xfrm>
          <a:prstGeom prst="rect">
            <a:avLst/>
          </a:prstGeom>
        </p:spPr>
      </p:pic>
      <p:sp>
        <p:nvSpPr>
          <p:cNvPr id="49" name="Text 30"/>
          <p:cNvSpPr/>
          <p:nvPr/>
        </p:nvSpPr>
        <p:spPr>
          <a:xfrm>
            <a:off x="4407408" y="5760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Secrets Mgr</a:t>
            </a:r>
            <a:endParaRPr lang="en-US" sz="850" dirty="0"/>
          </a:p>
        </p:txBody>
      </p:sp>
      <p:pic>
        <p:nvPicPr>
          <p:cNvPr id="50" name="Image 17" descr="/tmp/aws-icons/dist/SecurityIdentityCompliance/KeyManagementServi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40680" y="5742432"/>
            <a:ext cx="310896" cy="310896"/>
          </a:xfrm>
          <a:prstGeom prst="rect">
            <a:avLst/>
          </a:prstGeom>
        </p:spPr>
      </p:pic>
      <p:sp>
        <p:nvSpPr>
          <p:cNvPr id="51" name="Text 31"/>
          <p:cNvSpPr/>
          <p:nvPr/>
        </p:nvSpPr>
        <p:spPr>
          <a:xfrm>
            <a:off x="5779008" y="5760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KMS</a:t>
            </a:r>
            <a:endParaRPr lang="en-US" sz="850" dirty="0"/>
          </a:p>
        </p:txBody>
      </p:sp>
      <p:pic>
        <p:nvPicPr>
          <p:cNvPr id="52" name="Image 18" descr="/tmp/aws-icons/dist/SecurityIdentityCompliance/IAMIdentityCent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12280" y="5742432"/>
            <a:ext cx="310896" cy="310896"/>
          </a:xfrm>
          <a:prstGeom prst="rect">
            <a:avLst/>
          </a:prstGeom>
        </p:spPr>
      </p:pic>
      <p:sp>
        <p:nvSpPr>
          <p:cNvPr id="53" name="Text 32"/>
          <p:cNvSpPr/>
          <p:nvPr/>
        </p:nvSpPr>
        <p:spPr>
          <a:xfrm>
            <a:off x="7150608" y="5760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IAM Identity Center</a:t>
            </a:r>
            <a:endParaRPr lang="en-US" sz="850" dirty="0"/>
          </a:p>
        </p:txBody>
      </p:sp>
      <p:pic>
        <p:nvPicPr>
          <p:cNvPr id="54" name="Image 19" descr="/tmp/aws-icons/dist/ManagementGovernance/CloudForm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83880" y="5742432"/>
            <a:ext cx="310896" cy="310896"/>
          </a:xfrm>
          <a:prstGeom prst="rect">
            <a:avLst/>
          </a:prstGeom>
        </p:spPr>
      </p:pic>
      <p:sp>
        <p:nvSpPr>
          <p:cNvPr id="55" name="Text 33"/>
          <p:cNvSpPr/>
          <p:nvPr/>
        </p:nvSpPr>
        <p:spPr>
          <a:xfrm>
            <a:off x="8522208" y="5760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CloudFormation</a:t>
            </a:r>
            <a:endParaRPr lang="en-US" sz="850" dirty="0"/>
          </a:p>
        </p:txBody>
      </p:sp>
      <p:sp>
        <p:nvSpPr>
          <p:cNvPr id="56" name="Shape 34"/>
          <p:cNvSpPr/>
          <p:nvPr/>
        </p:nvSpPr>
        <p:spPr>
          <a:xfrm>
            <a:off x="9738360" y="1051560"/>
            <a:ext cx="2286000" cy="4709160"/>
          </a:xfrm>
          <a:prstGeom prst="roundRect">
            <a:avLst>
              <a:gd name="adj" fmla="val 3200"/>
            </a:avLst>
          </a:prstGeom>
          <a:solidFill>
            <a:srgbClr val="FFF4E8"/>
          </a:solidFill>
          <a:ln w="19050">
            <a:solidFill>
              <a:srgbClr val="E8791E"/>
            </a:solidFill>
            <a:prstDash val="solid"/>
          </a:ln>
        </p:spPr>
      </p:sp>
      <p:sp>
        <p:nvSpPr>
          <p:cNvPr id="57" name="Text 35"/>
          <p:cNvSpPr/>
          <p:nvPr/>
        </p:nvSpPr>
        <p:spPr>
          <a:xfrm>
            <a:off x="9848088" y="109728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accounts (×N)</a:t>
            </a:r>
            <a:endParaRPr lang="en-US" sz="1100" dirty="0"/>
          </a:p>
        </p:txBody>
      </p:sp>
      <p:sp>
        <p:nvSpPr>
          <p:cNvPr id="58" name="Text 36"/>
          <p:cNvSpPr/>
          <p:nvPr/>
        </p:nvSpPr>
        <p:spPr>
          <a:xfrm>
            <a:off x="9784080" y="59893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5B6673"/>
                </a:solidFill>
              </a:rPr>
              <a:t>Launch: single account — CloudPulse deploys inside it; scan Lambdas use a local read-only role (no AssumeRole). Cross-account mode activates as accounts are added.</a:t>
            </a:r>
            <a:endParaRPr lang="en-US" sz="750" dirty="0"/>
          </a:p>
        </p:txBody>
      </p:sp>
      <p:pic>
        <p:nvPicPr>
          <p:cNvPr id="59" name="Image 20" descr="/tmp/aws-icons/dist/ManagementGovernance/CloudFormati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71048" y="1554480"/>
            <a:ext cx="420624" cy="420624"/>
          </a:xfrm>
          <a:prstGeom prst="rect">
            <a:avLst/>
          </a:prstGeom>
        </p:spPr>
      </p:pic>
      <p:sp>
        <p:nvSpPr>
          <p:cNvPr id="60" name="Text 37"/>
          <p:cNvSpPr/>
          <p:nvPr/>
        </p:nvSpPr>
        <p:spPr>
          <a:xfrm>
            <a:off x="10104120" y="1993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CloudFormation stack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(onboarding)</a:t>
            </a:r>
            <a:endParaRPr lang="en-US" sz="800" dirty="0"/>
          </a:p>
        </p:txBody>
      </p:sp>
      <p:pic>
        <p:nvPicPr>
          <p:cNvPr id="61" name="Image 21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71048" y="2514600"/>
            <a:ext cx="420624" cy="420624"/>
          </a:xfrm>
          <a:prstGeom prst="rect">
            <a:avLst/>
          </a:prstGeom>
        </p:spPr>
      </p:pic>
      <p:sp>
        <p:nvSpPr>
          <p:cNvPr id="62" name="Text 38"/>
          <p:cNvSpPr/>
          <p:nvPr/>
        </p:nvSpPr>
        <p:spPr>
          <a:xfrm>
            <a:off x="1010412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CloudPulseScannerRole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(read-only)</a:t>
            </a:r>
            <a:endParaRPr lang="en-US" sz="800" dirty="0"/>
          </a:p>
        </p:txBody>
      </p:sp>
      <p:pic>
        <p:nvPicPr>
          <p:cNvPr id="63" name="Image 22" descr="/tmp/aws-icons/dist/ManagementGovernance/CloudTrail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71048" y="3474720"/>
            <a:ext cx="420624" cy="420624"/>
          </a:xfrm>
          <a:prstGeom prst="rect">
            <a:avLst/>
          </a:prstGeom>
        </p:spPr>
      </p:pic>
      <p:sp>
        <p:nvSpPr>
          <p:cNvPr id="64" name="Text 39"/>
          <p:cNvSpPr/>
          <p:nvPr/>
        </p:nvSpPr>
        <p:spPr>
          <a:xfrm>
            <a:off x="10104120" y="39136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CloudTrail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(ownership events)</a:t>
            </a:r>
            <a:endParaRPr lang="en-US" sz="800" dirty="0"/>
          </a:p>
        </p:txBody>
      </p:sp>
      <p:pic>
        <p:nvPicPr>
          <p:cNvPr id="65" name="Image 23" descr="/tmp/aws-icons/dist/Compute/EC2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104120" y="4526280"/>
            <a:ext cx="384048" cy="384048"/>
          </a:xfrm>
          <a:prstGeom prst="rect">
            <a:avLst/>
          </a:prstGeom>
        </p:spPr>
      </p:pic>
      <p:pic>
        <p:nvPicPr>
          <p:cNvPr id="66" name="Image 24" descr="/tmp/aws-icons/dist/Database/RD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98480" y="4526280"/>
            <a:ext cx="384048" cy="384048"/>
          </a:xfrm>
          <a:prstGeom prst="rect">
            <a:avLst/>
          </a:prstGeom>
        </p:spPr>
      </p:pic>
      <p:pic>
        <p:nvPicPr>
          <p:cNvPr id="67" name="Image 25" descr="/tmp/aws-icons/dist/Storage/SimpleStorageServic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292840" y="4526280"/>
            <a:ext cx="384048" cy="384048"/>
          </a:xfrm>
          <a:prstGeom prst="rect">
            <a:avLst/>
          </a:prstGeom>
        </p:spPr>
      </p:pic>
      <p:pic>
        <p:nvPicPr>
          <p:cNvPr id="68" name="Image 26" descr="/tmp/aws-icons/dist/Compute/Lambda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378440" y="4983480"/>
            <a:ext cx="384048" cy="384048"/>
          </a:xfrm>
          <a:prstGeom prst="rect">
            <a:avLst/>
          </a:prstGeom>
        </p:spPr>
      </p:pic>
      <p:pic>
        <p:nvPicPr>
          <p:cNvPr id="69" name="Image 27" descr="/tmp/aws-icons/dist/Containers/ElasticKubernetesServic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018520" y="4983480"/>
            <a:ext cx="384048" cy="384048"/>
          </a:xfrm>
          <a:prstGeom prst="rect">
            <a:avLst/>
          </a:prstGeom>
        </p:spPr>
      </p:pic>
      <p:sp>
        <p:nvSpPr>
          <p:cNvPr id="70" name="Text 40"/>
          <p:cNvSpPr/>
          <p:nvPr/>
        </p:nvSpPr>
        <p:spPr>
          <a:xfrm>
            <a:off x="9829800" y="5413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3"/>
                </a:solidFill>
              </a:rPr>
              <a:t>EC2 • RDS • S3 • Lambda • EKS • IAM …</a:t>
            </a:r>
            <a:endParaRPr lang="en-US" sz="800" dirty="0"/>
          </a:p>
        </p:txBody>
      </p:sp>
      <p:sp>
        <p:nvSpPr>
          <p:cNvPr id="71" name="Shape 41"/>
          <p:cNvSpPr/>
          <p:nvPr/>
        </p:nvSpPr>
        <p:spPr>
          <a:xfrm>
            <a:off x="1143000" y="1783080"/>
            <a:ext cx="1051560" cy="22860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2" name="Shape 42"/>
          <p:cNvSpPr/>
          <p:nvPr/>
        </p:nvSpPr>
        <p:spPr>
          <a:xfrm>
            <a:off x="2651760" y="2057400"/>
            <a:ext cx="713232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3" name="Shape 43"/>
          <p:cNvSpPr/>
          <p:nvPr/>
        </p:nvSpPr>
        <p:spPr>
          <a:xfrm>
            <a:off x="3840480" y="2057400"/>
            <a:ext cx="91440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4" name="Shape 44"/>
          <p:cNvSpPr/>
          <p:nvPr/>
        </p:nvSpPr>
        <p:spPr>
          <a:xfrm>
            <a:off x="5212080" y="2057400"/>
            <a:ext cx="850392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5" name="Shape 45"/>
          <p:cNvSpPr/>
          <p:nvPr/>
        </p:nvSpPr>
        <p:spPr>
          <a:xfrm>
            <a:off x="6537960" y="2057400"/>
            <a:ext cx="123444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6" name="Shape 46"/>
          <p:cNvSpPr/>
          <p:nvPr/>
        </p:nvSpPr>
        <p:spPr>
          <a:xfrm flipV="1">
            <a:off x="2423160" y="2788920"/>
            <a:ext cx="0" cy="59436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  <p:sp>
        <p:nvSpPr>
          <p:cNvPr id="77" name="Shape 47"/>
          <p:cNvSpPr/>
          <p:nvPr/>
        </p:nvSpPr>
        <p:spPr>
          <a:xfrm flipH="1">
            <a:off x="5806440" y="2331720"/>
            <a:ext cx="502920" cy="96012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  <p:sp>
        <p:nvSpPr>
          <p:cNvPr id="78" name="Shape 48"/>
          <p:cNvSpPr/>
          <p:nvPr/>
        </p:nvSpPr>
        <p:spPr>
          <a:xfrm>
            <a:off x="2697480" y="4754880"/>
            <a:ext cx="96012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79" name="Shape 49"/>
          <p:cNvSpPr/>
          <p:nvPr/>
        </p:nvSpPr>
        <p:spPr>
          <a:xfrm>
            <a:off x="4114800" y="4754880"/>
            <a:ext cx="96012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80" name="Shape 50"/>
          <p:cNvSpPr/>
          <p:nvPr/>
        </p:nvSpPr>
        <p:spPr>
          <a:xfrm>
            <a:off x="5532120" y="4754880"/>
            <a:ext cx="86868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solid"/>
            <a:tailEnd type="triangle"/>
          </a:ln>
        </p:spPr>
      </p:sp>
      <p:sp>
        <p:nvSpPr>
          <p:cNvPr id="81" name="Shape 51"/>
          <p:cNvSpPr/>
          <p:nvPr/>
        </p:nvSpPr>
        <p:spPr>
          <a:xfrm>
            <a:off x="6858000" y="4754880"/>
            <a:ext cx="288036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82" name="Shape 52"/>
          <p:cNvSpPr/>
          <p:nvPr/>
        </p:nvSpPr>
        <p:spPr>
          <a:xfrm flipV="1">
            <a:off x="5577840" y="3520440"/>
            <a:ext cx="3108960" cy="100584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  <p:sp>
        <p:nvSpPr>
          <p:cNvPr id="83" name="Shape 53"/>
          <p:cNvSpPr/>
          <p:nvPr/>
        </p:nvSpPr>
        <p:spPr>
          <a:xfrm flipV="1">
            <a:off x="5532120" y="2377440"/>
            <a:ext cx="2331720" cy="214884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  <p:sp>
        <p:nvSpPr>
          <p:cNvPr id="84" name="Text 54"/>
          <p:cNvSpPr/>
          <p:nvPr/>
        </p:nvSpPr>
        <p:spPr>
          <a:xfrm>
            <a:off x="745236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791E"/>
                </a:solidFill>
              </a:rPr>
              <a:t>assume role (ExternalId)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Scan &amp; Governance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loop: discover → diff → validate → attribute → notify. Runs 02:00 IST daily plus on-demand from the UI.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39903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pic>
        <p:nvPicPr>
          <p:cNvPr id="7" name="Image 0" descr="/tmp/aws-icons/dist/ApplicationIntegration/Event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380744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7512" y="1947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Trigger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67512" y="228600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EventBridge Scheduler fires daily scan or user triggers on-demand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0" y="239572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29000" y="1234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93592" y="139903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0"/>
          <p:cNvSpPr/>
          <p:nvPr/>
        </p:nvSpPr>
        <p:spPr>
          <a:xfrm>
            <a:off x="3593592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pic>
        <p:nvPicPr>
          <p:cNvPr id="14" name="Image 1" descr="/tmp/aws-icons/dist/ApplicationIntegration/StepFun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80744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93592" y="1947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Fan out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93592" y="228600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Step Functions Map: one branch per (account × service group)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26480" y="239572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55080" y="1234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19672" y="139903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6"/>
          <p:cNvSpPr/>
          <p:nvPr/>
        </p:nvSpPr>
        <p:spPr>
          <a:xfrm>
            <a:off x="6519672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/tmp/aws-icons/dist/Compute/Lambd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80744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19672" y="1947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Discover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519672" y="228600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Scan Lambda assumes spoke role; Tagging API sweep + per-service enrichers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052560" y="239572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281160" y="1234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445752" y="139903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7" name="Text 22"/>
          <p:cNvSpPr/>
          <p:nvPr/>
        </p:nvSpPr>
        <p:spPr>
          <a:xfrm>
            <a:off x="9445752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28" name="Image 3" descr="/tmp/aws-icons/dist/Storage/SimpleStorageServ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1380744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445752" y="1947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Snapshot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9445752" y="228600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Raw JSON snapshot to S3 (immutable audit trail, Athena-ready)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2920" y="38862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" y="405079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3" name="Text 27"/>
          <p:cNvSpPr/>
          <p:nvPr/>
        </p:nvSpPr>
        <p:spPr>
          <a:xfrm>
            <a:off x="667512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34" name="Image 4" descr="/tmp/aws-icons/dist/Database/Auror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4032504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667512" y="4599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Load &amp; diff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667512" y="493776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Upsert into Postgres; diff vs last scan opens/closes findings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3200400" y="504748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3429000" y="38862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3593592" y="405079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40" name="Text 33"/>
          <p:cNvSpPr/>
          <p:nvPr/>
        </p:nvSpPr>
        <p:spPr>
          <a:xfrm>
            <a:off x="3593592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pic>
        <p:nvPicPr>
          <p:cNvPr id="41" name="Image 5" descr="/tmp/aws-icons/dist/ManagementGovernance/CloudTr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032504"/>
            <a:ext cx="457200" cy="45720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593592" y="4599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Attribute</a:t>
            </a:r>
            <a:endParaRPr lang="en-US" sz="1400" dirty="0"/>
          </a:p>
        </p:txBody>
      </p:sp>
      <p:sp>
        <p:nvSpPr>
          <p:cNvPr id="43" name="Text 35"/>
          <p:cNvSpPr/>
          <p:nvPr/>
        </p:nvSpPr>
        <p:spPr>
          <a:xfrm>
            <a:off x="3593592" y="493776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Ownership worker mines CloudTrail: creator → frequent modifier → manual queue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6126480" y="504748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45" name="Shape 37"/>
          <p:cNvSpPr/>
          <p:nvPr/>
        </p:nvSpPr>
        <p:spPr>
          <a:xfrm>
            <a:off x="6355080" y="38862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6519672" y="405079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47" name="Text 39"/>
          <p:cNvSpPr/>
          <p:nvPr/>
        </p:nvSpPr>
        <p:spPr>
          <a:xfrm>
            <a:off x="6519672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pic>
        <p:nvPicPr>
          <p:cNvPr id="48" name="Image 6" descr="/tmp/aws-icons/dist/BusinessApplications/SimpleEmailServi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4032504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6519672" y="4599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Notify</a:t>
            </a:r>
            <a:endParaRPr lang="en-US" sz="1400" dirty="0"/>
          </a:p>
        </p:txBody>
      </p:sp>
      <p:sp>
        <p:nvSpPr>
          <p:cNvPr id="50" name="Text 41"/>
          <p:cNvSpPr/>
          <p:nvPr/>
        </p:nvSpPr>
        <p:spPr>
          <a:xfrm>
            <a:off x="6519672" y="493776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SES cadence day 0/2/4 + dashboard bell; unresolved after 4th interval → escalate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9052560" y="5047488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52" name="Shape 43"/>
          <p:cNvSpPr/>
          <p:nvPr/>
        </p:nvSpPr>
        <p:spPr>
          <a:xfrm>
            <a:off x="9281160" y="38862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9445752" y="4050792"/>
            <a:ext cx="384048" cy="384048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54" name="Text 45"/>
          <p:cNvSpPr/>
          <p:nvPr/>
        </p:nvSpPr>
        <p:spPr>
          <a:xfrm>
            <a:off x="9445752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pic>
        <p:nvPicPr>
          <p:cNvPr id="55" name="Image 7" descr="/tmp/aws-icons/dist/ManagementGovernance/CloudWat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38560" y="4032504"/>
            <a:ext cx="457200" cy="457200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9445752" y="4599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Record</a:t>
            </a:r>
            <a:endParaRPr lang="en-US" sz="1400" dirty="0"/>
          </a:p>
        </p:txBody>
      </p:sp>
      <p:sp>
        <p:nvSpPr>
          <p:cNvPr id="57" name="Text 47"/>
          <p:cNvSpPr/>
          <p:nvPr/>
        </p:nvSpPr>
        <p:spPr>
          <a:xfrm>
            <a:off x="9445752" y="4937760"/>
            <a:ext cx="23957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433"/>
                </a:solidFill>
              </a:rPr>
              <a:t>Scan history, durations, counts → History page; alarms on failures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10972800" y="3611880"/>
            <a:ext cx="0" cy="22860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Access Model — Roles Only, Zero Stored Credentials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Launch: same-account mode (local read-only role, no AssumeRole). Growth: deploy one CloudFormation stack per new account, register it with its scan-region list (default us-east-1). Access-key auth is deliberately not supported.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023360" cy="4892040"/>
          </a:xfrm>
          <a:prstGeom prst="roundRect">
            <a:avLst>
              <a:gd name="adj" fmla="val 1818"/>
            </a:avLst>
          </a:prstGeom>
          <a:solidFill>
            <a:srgbClr val="FBFCFE"/>
          </a:solidFill>
          <a:ln w="19050">
            <a:solidFill>
              <a:srgbClr val="232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account — CloudPulse</a:t>
            </a:r>
            <a:endParaRPr lang="en-US" sz="1100" dirty="0"/>
          </a:p>
        </p:txBody>
      </p:sp>
      <p:pic>
        <p:nvPicPr>
          <p:cNvPr id="6" name="Image 0" descr="/tmp/aws-icons/dist/ApplicationIntegration/StepFun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210312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5968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state machine</a:t>
            </a:r>
            <a:endParaRPr lang="en-US" sz="850" dirty="0"/>
          </a:p>
        </p:txBody>
      </p:sp>
      <p:pic>
        <p:nvPicPr>
          <p:cNvPr id="8" name="Image 1" descr="/tmp/aws-icons/dist/Compute/Lamb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2103120"/>
            <a:ext cx="475488" cy="475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57400" y="25968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/ remediation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Lambdas</a:t>
            </a:r>
            <a:endParaRPr lang="en-US" sz="850" dirty="0"/>
          </a:p>
        </p:txBody>
      </p:sp>
      <p:pic>
        <p:nvPicPr>
          <p:cNvPr id="10" name="Image 2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380" y="35661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40873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sts:AssumeRole only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(scoped to CloudPulse* roles)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777240" y="44348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32F3E"/>
                </a:solidFill>
              </a:rPr>
              <a:t>Trust controls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3"/>
                </a:solidFill>
              </a:rPr>
              <a:t>Per-tenant ExternalId (confused-deputy guard)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3"/>
                </a:solidFill>
              </a:rPr>
              <a:t>Read-only scanner: SecurityAudit + ViewOnlyAccess + tag:GetResources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3"/>
                </a:solidFill>
              </a:rPr>
              <a:t>Separate CloudPulseRemediatorRole (R2), tag-write only, opt-in per account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3"/>
                </a:solidFill>
              </a:rPr>
              <a:t>Sessions 15 min, all calls in spoke CloudTrail</a:t>
            </a:r>
            <a:endParaRPr lang="en-US" sz="1100" dirty="0"/>
          </a:p>
        </p:txBody>
      </p:sp>
      <p:pic>
        <p:nvPicPr>
          <p:cNvPr id="13" name="Image 3" descr="/tmp/aws-icons/dist/ManagementGovernance/Organizatio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737360"/>
            <a:ext cx="548640" cy="5486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029200" y="23042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Organizations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StackSets push the role to all accounts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7589520" y="15087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4E8"/>
          </a:solidFill>
          <a:ln w="12700">
            <a:solidFill>
              <a:srgbClr val="E8791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699248" y="155448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account — CloudPulse hub deploys INSIDE it</a:t>
            </a:r>
            <a:endParaRPr lang="en-US" sz="1100" dirty="0"/>
          </a:p>
        </p:txBody>
      </p:sp>
      <p:pic>
        <p:nvPicPr>
          <p:cNvPr id="17" name="Image 4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193852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35440" y="195681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433"/>
                </a:solidFill>
              </a:rPr>
              <a:t>Local read-only role (no AssumeRole)</a:t>
            </a:r>
            <a:endParaRPr lang="en-US" sz="900" dirty="0"/>
          </a:p>
        </p:txBody>
      </p:sp>
      <p:pic>
        <p:nvPicPr>
          <p:cNvPr id="19" name="Image 5" descr="/tmp/aws-icons/dist/ManagementGovernance/CloudTr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5640" y="1938528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572000" y="2103120"/>
            <a:ext cx="3017520" cy="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  <p:sp>
        <p:nvSpPr>
          <p:cNvPr id="21" name="Shape 13"/>
          <p:cNvSpPr/>
          <p:nvPr/>
        </p:nvSpPr>
        <p:spPr>
          <a:xfrm>
            <a:off x="758952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4E8"/>
          </a:solidFill>
          <a:ln w="12700">
            <a:solidFill>
              <a:srgbClr val="E8791E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7699248" y="30175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account #2 (cross-account mode)</a:t>
            </a:r>
            <a:endParaRPr lang="en-US" sz="1100" dirty="0"/>
          </a:p>
        </p:txBody>
      </p:sp>
      <p:pic>
        <p:nvPicPr>
          <p:cNvPr id="23" name="Image 6" descr="/tmp/aws-icons/dist/ManagementGovernance/CloudForma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3401568"/>
            <a:ext cx="411480" cy="411480"/>
          </a:xfrm>
          <a:prstGeom prst="rect">
            <a:avLst/>
          </a:prstGeom>
        </p:spPr>
      </p:pic>
      <p:pic>
        <p:nvPicPr>
          <p:cNvPr id="24" name="Image 7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2520" y="3401568"/>
            <a:ext cx="411480" cy="41148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9235440" y="34198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433"/>
                </a:solidFill>
              </a:rPr>
              <a:t>CloudPulseScannerRole</a:t>
            </a:r>
            <a:endParaRPr lang="en-US" sz="900" dirty="0"/>
          </a:p>
        </p:txBody>
      </p:sp>
      <p:pic>
        <p:nvPicPr>
          <p:cNvPr id="26" name="Image 8" descr="/tmp/aws-icons/dist/ManagementGovernance/CloudTrai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3401568"/>
            <a:ext cx="411480" cy="411480"/>
          </a:xfrm>
          <a:prstGeom prst="rect">
            <a:avLst/>
          </a:prstGeom>
        </p:spPr>
      </p:pic>
      <p:sp>
        <p:nvSpPr>
          <p:cNvPr id="27" name="Shape 16"/>
          <p:cNvSpPr/>
          <p:nvPr/>
        </p:nvSpPr>
        <p:spPr>
          <a:xfrm>
            <a:off x="4572000" y="3566160"/>
            <a:ext cx="301752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28" name="Shape 17"/>
          <p:cNvSpPr/>
          <p:nvPr/>
        </p:nvSpPr>
        <p:spPr>
          <a:xfrm>
            <a:off x="7589520" y="44348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4E8"/>
          </a:solidFill>
          <a:ln w="12700">
            <a:solidFill>
              <a:srgbClr val="E8791E"/>
            </a:solidFill>
            <a:prstDash val="solid"/>
          </a:ln>
        </p:spPr>
      </p:sp>
      <p:sp>
        <p:nvSpPr>
          <p:cNvPr id="29" name="Text 18"/>
          <p:cNvSpPr/>
          <p:nvPr/>
        </p:nvSpPr>
        <p:spPr>
          <a:xfrm>
            <a:off x="7699248" y="448056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account #3 (cross-account mode)</a:t>
            </a:r>
            <a:endParaRPr lang="en-US" sz="1100" dirty="0"/>
          </a:p>
        </p:txBody>
      </p:sp>
      <p:pic>
        <p:nvPicPr>
          <p:cNvPr id="30" name="Image 9" descr="/tmp/aws-icons/dist/ManagementGovernance/CloudForm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8120" y="4864608"/>
            <a:ext cx="411480" cy="411480"/>
          </a:xfrm>
          <a:prstGeom prst="rect">
            <a:avLst/>
          </a:prstGeom>
        </p:spPr>
      </p:pic>
      <p:pic>
        <p:nvPicPr>
          <p:cNvPr id="31" name="Image 10" descr="/tmp/aws-icons/dist/SecurityIdentityCompliance/IdentityAccessManagementRo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32520" y="4864608"/>
            <a:ext cx="411480" cy="41148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9235440" y="48828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433"/>
                </a:solidFill>
              </a:rPr>
              <a:t>CloudPulseScannerRole</a:t>
            </a:r>
            <a:endParaRPr lang="en-US" sz="900" dirty="0"/>
          </a:p>
        </p:txBody>
      </p:sp>
      <p:pic>
        <p:nvPicPr>
          <p:cNvPr id="33" name="Image 11" descr="/tmp/aws-icons/dist/ManagementGovernance/CloudTrai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35640" y="4864608"/>
            <a:ext cx="411480" cy="411480"/>
          </a:xfrm>
          <a:prstGeom prst="rect">
            <a:avLst/>
          </a:prstGeom>
        </p:spPr>
      </p:pic>
      <p:sp>
        <p:nvSpPr>
          <p:cNvPr id="34" name="Shape 20"/>
          <p:cNvSpPr/>
          <p:nvPr/>
        </p:nvSpPr>
        <p:spPr>
          <a:xfrm>
            <a:off x="4572000" y="5029200"/>
            <a:ext cx="301752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35" name="Text 21"/>
          <p:cNvSpPr/>
          <p:nvPr/>
        </p:nvSpPr>
        <p:spPr>
          <a:xfrm>
            <a:off x="4709160" y="1188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673"/>
                </a:solidFill>
              </a:rPr>
              <a:t>dashed = hub runs in this account (local role)   solid = sts:AssumeRole (ExternalId)</a:t>
            </a:r>
            <a:endParaRPr lang="en-US" sz="850" dirty="0"/>
          </a:p>
        </p:txBody>
      </p:sp>
      <p:sp>
        <p:nvSpPr>
          <p:cNvPr id="36" name="Shape 22"/>
          <p:cNvSpPr/>
          <p:nvPr/>
        </p:nvSpPr>
        <p:spPr>
          <a:xfrm>
            <a:off x="5806440" y="2697480"/>
            <a:ext cx="1783080" cy="411480"/>
          </a:xfrm>
          <a:prstGeom prst="line">
            <a:avLst/>
          </a:prstGeom>
          <a:noFill/>
          <a:ln w="19050">
            <a:solidFill>
              <a:srgbClr val="8896A6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Governance &amp; GenAI Layer (Release 2–3)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signals come from native AWS services; Bedrock explains and recommends — it never holds credentials or executes changes.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801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governance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303520" y="13258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8791E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0" y="132588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</a:t>
            </a:r>
            <a:endParaRPr lang="en-US" sz="900" dirty="0"/>
          </a:p>
        </p:txBody>
      </p:sp>
      <p:pic>
        <p:nvPicPr>
          <p:cNvPr id="8" name="Image 0" descr="/tmp/aws-icons/dist/CloudFinancialManagement/CostExplo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1828800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Explorer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by project tag</a:t>
            </a:r>
            <a:endParaRPr lang="en-US" sz="850" dirty="0"/>
          </a:p>
        </p:txBody>
      </p:sp>
      <p:pic>
        <p:nvPicPr>
          <p:cNvPr id="10" name="Image 1" descr="/tmp/aws-icons/dist/CloudFinancialManagement/Budg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1828800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42316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Budgets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auto-created per project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/ 100% alerts</a:t>
            </a:r>
            <a:endParaRPr lang="en-US" sz="850" dirty="0"/>
          </a:p>
        </p:txBody>
      </p:sp>
      <p:pic>
        <p:nvPicPr>
          <p:cNvPr id="12" name="Image 2" descr="/tmp/aws-icons/dist/ManagementGovernance/ComputeOptimiz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828800"/>
            <a:ext cx="475488" cy="475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06908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Optimizer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rightsizing signals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822960" y="329184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Overrun detection: forecast + actual vs project budget → findings pipeline (same lifecycle as tag findings)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Unused resources: idle EC2, unattached EBS, orphaned EIPs, idle RDS → savings estimates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Cost dashboard: spend by project / SDA / environment with drill-down; sandbox utilization % (R3)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Recommendations: shutdown, cleanup, rightsize (m5.2xlarge → m5.xlarge), reserved capacity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EEF4FE"/>
          </a:solidFill>
          <a:ln w="12700">
            <a:solidFill>
              <a:srgbClr val="B9CDEB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419088" y="12801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on Amazon Bedrock (Claude)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607040" y="13258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/>
        </p:spPr>
      </p:sp>
      <p:sp>
        <p:nvSpPr>
          <p:cNvPr id="18" name="Text 13"/>
          <p:cNvSpPr/>
          <p:nvPr/>
        </p:nvSpPr>
        <p:spPr>
          <a:xfrm>
            <a:off x="10607040" y="132588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R2+</a:t>
            </a:r>
            <a:endParaRPr lang="en-US" sz="900" dirty="0"/>
          </a:p>
        </p:txBody>
      </p:sp>
      <p:pic>
        <p:nvPicPr>
          <p:cNvPr id="19" name="Image 3" descr="/tmp/aws-icons/dist/ArtificialIntelligence/Bedr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82880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446520" y="23957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 API</a:t>
            </a:r>
            <a:endParaRPr lang="en-US" sz="850" dirty="0"/>
          </a:p>
        </p:txBody>
      </p:sp>
      <p:pic>
        <p:nvPicPr>
          <p:cNvPr id="21" name="Image 4" descr="/tmp/aws-icons/dist/Compute/Lamb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496" y="1828800"/>
            <a:ext cx="475488" cy="47548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00100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jobs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(nightly digest)</a:t>
            </a:r>
            <a:endParaRPr lang="en-US" sz="850" dirty="0"/>
          </a:p>
        </p:txBody>
      </p:sp>
      <p:pic>
        <p:nvPicPr>
          <p:cNvPr id="23" name="Image 5" descr="/tmp/aws-icons/dist/NetworkingContentDelivery/APIGatew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976" y="1828800"/>
            <a:ext cx="475488" cy="47548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9555480" y="23225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tools</a:t>
            </a:r>
            <a:endParaRPr lang="en-US" sz="8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NL Q&amp;A (R3)</a:t>
            </a:r>
            <a:endParaRPr lang="en-US" sz="850" dirty="0"/>
          </a:p>
        </p:txBody>
      </p:sp>
      <p:sp>
        <p:nvSpPr>
          <p:cNvPr id="25" name="Text 17"/>
          <p:cNvSpPr/>
          <p:nvPr/>
        </p:nvSpPr>
        <p:spPr>
          <a:xfrm>
            <a:off x="6583680" y="329184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Findings digest: nightly summary of top findings + cost deltas → dashboard card + weekly email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Remediation suggester: drafts action + blast-radius note per finding class; human approves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NL Q&amp;A (R3): “Which untagged prod resources cost most last month?” — tool-use against CloudPulse API, tenant-scoped, answers cite ARNs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433"/>
                </a:solidFill>
              </a:rPr>
              <a:t>Cost control: Haiku for classification, Sonnet for digests; cached outputs; Bedrock budget alarm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Terraform + GitHub Actions (OIDC, no long-lived keys)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Monorepo: /infra (Terraform), /backend (FastAPI + workers), /frontend (Angular), /connectors. Trunk-based; deploy on merge to main.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Push / PR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433"/>
                </a:solidFill>
              </a:rPr>
              <a:t>Lint • mypy • unit tests (moto) • Angular build • tf validate &amp; plan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2240280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2900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481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Merge to main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1828800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433"/>
                </a:solidFill>
              </a:rPr>
              <a:t>Integration tests (LocalStack) • package Lambdas • build SPA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2240280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481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Deploy dev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1828800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433"/>
                </a:solidFill>
              </a:rPr>
              <a:t>terraform apply (auto) • Alembic migrations • smoke tests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61120" y="2240280"/>
            <a:ext cx="228600" cy="0"/>
          </a:xfrm>
          <a:prstGeom prst="line">
            <a:avLst/>
          </a:prstGeom>
          <a:noFill/>
          <a:ln w="25400">
            <a:solidFill>
              <a:srgbClr val="E8791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8972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EAF6EF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481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Deploy prod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26880" y="1828800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433"/>
                </a:solidFill>
              </a:rPr>
              <a:t>Manual approval gate • apply • CloudFront invalidation • canary alarm watch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BFCFE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61188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environment (hub account: cloudpulse-dev)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BFCFE"/>
          </a:solidFill>
          <a:ln w="19050">
            <a:solidFill>
              <a:srgbClr val="232F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361188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environment (hub account: cloudpulse-prod)</a:t>
            </a:r>
            <a:endParaRPr lang="en-US" sz="1100" dirty="0"/>
          </a:p>
        </p:txBody>
      </p:sp>
      <p:pic>
        <p:nvPicPr>
          <p:cNvPr id="23" name="Image 0" descr="/tmp/aws-icons/dist/NetworkingContentDelivery/Cloud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4069080"/>
            <a:ext cx="420624" cy="420624"/>
          </a:xfrm>
          <a:prstGeom prst="rect">
            <a:avLst/>
          </a:prstGeom>
        </p:spPr>
      </p:pic>
      <p:pic>
        <p:nvPicPr>
          <p:cNvPr id="24" name="Image 1" descr="/tmp/aws-icons/dist/Storage/SimpleStorageSer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4069080"/>
            <a:ext cx="420624" cy="420624"/>
          </a:xfrm>
          <a:prstGeom prst="rect">
            <a:avLst/>
          </a:prstGeom>
        </p:spPr>
      </p:pic>
      <p:pic>
        <p:nvPicPr>
          <p:cNvPr id="25" name="Image 2" descr="/tmp/aws-icons/dist/NetworkingContentDelivery/API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28" y="4069080"/>
            <a:ext cx="420624" cy="420624"/>
          </a:xfrm>
          <a:prstGeom prst="rect">
            <a:avLst/>
          </a:prstGeom>
        </p:spPr>
      </p:pic>
      <p:pic>
        <p:nvPicPr>
          <p:cNvPr id="26" name="Image 3" descr="/tmp/aws-icons/dist/Compute/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069080"/>
            <a:ext cx="420624" cy="420624"/>
          </a:xfrm>
          <a:prstGeom prst="rect">
            <a:avLst/>
          </a:prstGeom>
        </p:spPr>
      </p:pic>
      <p:pic>
        <p:nvPicPr>
          <p:cNvPr id="27" name="Image 4" descr="/tmp/aws-icons/dist/ApplicationIntegration/StepFunctio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4069080"/>
            <a:ext cx="420624" cy="420624"/>
          </a:xfrm>
          <a:prstGeom prst="rect">
            <a:avLst/>
          </a:prstGeom>
        </p:spPr>
      </p:pic>
      <p:pic>
        <p:nvPicPr>
          <p:cNvPr id="28" name="Image 5" descr="/tmp/aws-icons/dist/Database/Auror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4069080"/>
            <a:ext cx="420624" cy="42062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7724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CloudFront   S3 SPA   API GW   Lambdas   Step Fn   Aurora</a:t>
            </a:r>
            <a:endParaRPr lang="en-US" sz="850" dirty="0"/>
          </a:p>
        </p:txBody>
      </p:sp>
      <p:pic>
        <p:nvPicPr>
          <p:cNvPr id="30" name="Image 6" descr="/tmp/aws-icons/dist/NetworkingContentDelivery/CloudFro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4069080"/>
            <a:ext cx="420624" cy="420624"/>
          </a:xfrm>
          <a:prstGeom prst="rect">
            <a:avLst/>
          </a:prstGeom>
        </p:spPr>
      </p:pic>
      <p:pic>
        <p:nvPicPr>
          <p:cNvPr id="31" name="Image 7" descr="/tmp/aws-icons/dist/Storage/SimpleStorage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4069080"/>
            <a:ext cx="420624" cy="420624"/>
          </a:xfrm>
          <a:prstGeom prst="rect">
            <a:avLst/>
          </a:prstGeom>
        </p:spPr>
      </p:pic>
      <p:pic>
        <p:nvPicPr>
          <p:cNvPr id="32" name="Image 8" descr="/tmp/aws-icons/dist/NetworkingContentDelivery/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5048" y="4069080"/>
            <a:ext cx="420624" cy="420624"/>
          </a:xfrm>
          <a:prstGeom prst="rect">
            <a:avLst/>
          </a:prstGeom>
        </p:spPr>
      </p:pic>
      <p:pic>
        <p:nvPicPr>
          <p:cNvPr id="33" name="Image 9" descr="/tmp/aws-icons/dist/Compute/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8008" y="4069080"/>
            <a:ext cx="420624" cy="420624"/>
          </a:xfrm>
          <a:prstGeom prst="rect">
            <a:avLst/>
          </a:prstGeom>
        </p:spPr>
      </p:pic>
      <p:pic>
        <p:nvPicPr>
          <p:cNvPr id="34" name="Image 10" descr="/tmp/aws-icons/dist/ApplicationIntegration/StepFunction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0968" y="4069080"/>
            <a:ext cx="420624" cy="420624"/>
          </a:xfrm>
          <a:prstGeom prst="rect">
            <a:avLst/>
          </a:prstGeom>
        </p:spPr>
      </p:pic>
      <p:pic>
        <p:nvPicPr>
          <p:cNvPr id="35" name="Image 11" descr="/tmp/aws-icons/dist/Database/Auror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53928" y="4069080"/>
            <a:ext cx="420624" cy="420624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653796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673"/>
                </a:solidFill>
              </a:rPr>
              <a:t>CloudFront   S3 SPA   API GW   Lambdas   Step Fn   Aurora</a:t>
            </a:r>
            <a:endParaRPr lang="en-US" sz="850" dirty="0"/>
          </a:p>
        </p:txBody>
      </p:sp>
      <p:sp>
        <p:nvSpPr>
          <p:cNvPr id="37" name="Text 23"/>
          <p:cNvSpPr/>
          <p:nvPr/>
        </p:nvSpPr>
        <p:spPr>
          <a:xfrm>
            <a:off x="822960" y="50292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Separate hub accounts for dev and prod; spokes onboard to prod only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GitHub OIDC federation → short-lived deploy roles per environment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Terraform state in S3 + DynamoDB lock, one state per env</a:t>
            </a:r>
            <a:endParaRPr lang="en-US" sz="1050" dirty="0"/>
          </a:p>
        </p:txBody>
      </p:sp>
      <p:sp>
        <p:nvSpPr>
          <p:cNvPr id="38" name="Text 24"/>
          <p:cNvSpPr/>
          <p:nvPr/>
        </p:nvSpPr>
        <p:spPr>
          <a:xfrm>
            <a:off x="6583680" y="50292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Rollback: Lambda aliases + previous artifact re-deploy; DB via expand-contract migrations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Observability: CloudWatch dashboards + alarms → SNS → email/Slack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433"/>
                </a:solidFill>
              </a:rPr>
              <a:t>Full pipeline YAML and runbooks in the Engineering Guide (docx)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2026-08-13T22:16:32Z</dcterms:created>
  <dcterms:modified xsi:type="dcterms:W3CDTF">2026-08-13T22:16:32Z</dcterms:modified>
</cp:coreProperties>
</file>